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5143500" cx="9144000"/>
  <p:notesSz cx="6858000" cy="9144000"/>
  <p:embeddedFontLst>
    <p:embeddedFont>
      <p:font typeface="Raleway"/>
      <p:regular r:id="rId47"/>
      <p:bold r:id="rId48"/>
      <p:italic r:id="rId49"/>
      <p:boldItalic r:id="rId50"/>
    </p:embeddedFont>
    <p:embeddedFont>
      <p:font typeface="Economica"/>
      <p:regular r:id="rId51"/>
      <p:bold r:id="rId52"/>
      <p:italic r:id="rId53"/>
      <p:boldItalic r:id="rId54"/>
    </p:embeddedFont>
    <p:embeddedFont>
      <p:font typeface="Lato"/>
      <p:regular r:id="rId55"/>
      <p:bold r:id="rId56"/>
      <p:italic r:id="rId57"/>
      <p:boldItalic r:id="rId58"/>
    </p:embeddedFont>
    <p:embeddedFont>
      <p:font typeface="Red Hat Display Medium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402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40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aleway-bold.fntdata"/><Relationship Id="rId47" Type="http://schemas.openxmlformats.org/officeDocument/2006/relationships/font" Target="fonts/Raleway-regular.fntdata"/><Relationship Id="rId49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RedHatDisplayMedium-boldItalic.fntdata"/><Relationship Id="rId61" Type="http://schemas.openxmlformats.org/officeDocument/2006/relationships/font" Target="fonts/RedHatDisplayMedium-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RedHatDisplayMedium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Economica-regular.fntdata"/><Relationship Id="rId50" Type="http://schemas.openxmlformats.org/officeDocument/2006/relationships/font" Target="fonts/Raleway-boldItalic.fntdata"/><Relationship Id="rId53" Type="http://schemas.openxmlformats.org/officeDocument/2006/relationships/font" Target="fonts/Economica-italic.fntdata"/><Relationship Id="rId52" Type="http://schemas.openxmlformats.org/officeDocument/2006/relationships/font" Target="fonts/Economica-bold.fntdata"/><Relationship Id="rId11" Type="http://schemas.openxmlformats.org/officeDocument/2006/relationships/slide" Target="slides/slide6.xml"/><Relationship Id="rId55" Type="http://schemas.openxmlformats.org/officeDocument/2006/relationships/font" Target="fonts/Lato-regular.fntdata"/><Relationship Id="rId10" Type="http://schemas.openxmlformats.org/officeDocument/2006/relationships/slide" Target="slides/slide5.xml"/><Relationship Id="rId54" Type="http://schemas.openxmlformats.org/officeDocument/2006/relationships/font" Target="fonts/Economica-boldItalic.fntdata"/><Relationship Id="rId13" Type="http://schemas.openxmlformats.org/officeDocument/2006/relationships/slide" Target="slides/slide8.xml"/><Relationship Id="rId57" Type="http://schemas.openxmlformats.org/officeDocument/2006/relationships/font" Target="fonts/Lato-italic.fntdata"/><Relationship Id="rId12" Type="http://schemas.openxmlformats.org/officeDocument/2006/relationships/slide" Target="slides/slide7.xml"/><Relationship Id="rId56" Type="http://schemas.openxmlformats.org/officeDocument/2006/relationships/font" Target="fonts/Lato-bold.fntdata"/><Relationship Id="rId15" Type="http://schemas.openxmlformats.org/officeDocument/2006/relationships/slide" Target="slides/slide10.xml"/><Relationship Id="rId59" Type="http://schemas.openxmlformats.org/officeDocument/2006/relationships/font" Target="fonts/RedHatDisplayMedium-regular.fntdata"/><Relationship Id="rId14" Type="http://schemas.openxmlformats.org/officeDocument/2006/relationships/slide" Target="slides/slide9.xml"/><Relationship Id="rId58" Type="http://schemas.openxmlformats.org/officeDocument/2006/relationships/font" Target="fonts/Lat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661358ddb0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2661358ddb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661358ddb0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661358ddb0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661358ddb0_0_7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661358ddb0_0_7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b567c3b59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b567c3b59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b567c3b59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b567c3b59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b15e93c8a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b15e93c8a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661358ddb0_0_8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661358ddb0_0_8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661358ddb0_0_8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2661358ddb0_0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ab9daeffa6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ab9daeffa6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661358ddb0_0_8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661358ddb0_0_8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661358ddb0_0_9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661358ddb0_0_9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661358ddb0_0_8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661358ddb0_0_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ab9daeffa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ab9daeffa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ab9daeffa6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ab9daeffa6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ac30c640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ac30c640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ac30c640d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ac30c640d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ac30c640d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ac30c640d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ac30c640df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ac30c640d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661358ddb0_0_1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661358ddb0_0_1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ac30c640df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ac30c640d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661358ddb0_0_9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661358ddb0_0_9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661358ddb0_0_9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661358ddb0_0_9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661358ddb0_0_10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2661358ddb0_0_10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661358ddb0_0_10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2661358ddb0_0_10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661358ddb0_0_9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2661358ddb0_0_9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661358ddb0_0_10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2661358ddb0_0_10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661358ddb0_0_10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661358ddb0_0_10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661358ddb0_0_10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2661358ddb0_0_10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661358ddb0_0_10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2661358ddb0_0_10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661358ddb0_0_10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2661358ddb0_0_1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b567c3b59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2b567c3b59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ac30c640d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2ac30c640d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2ac30c640df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2ac30c640df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661358ddb0_0_9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2661358ddb0_0_9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2661358ddb0_0_1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2661358ddb0_0_1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2ab9daeffa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2ab9daeffa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2661358ddb0_0_1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2661358ddb0_0_1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2661358ddb0_0_1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2661358ddb0_0_1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2661358ddb0_0_1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2661358ddb0_0_1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  <a:defRPr>
                <a:solidFill>
                  <a:schemeClr val="dk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TITLE_4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08125" y="4405475"/>
            <a:ext cx="414509" cy="414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7999" y="4514450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63041" y="4791191"/>
            <a:ext cx="325186" cy="32518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>
            <p:ph type="title"/>
          </p:nvPr>
        </p:nvSpPr>
        <p:spPr>
          <a:xfrm>
            <a:off x="606225" y="385025"/>
            <a:ext cx="83820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3600"/>
              <a:buNone/>
              <a:defRPr sz="3600">
                <a:solidFill>
                  <a:srgbClr val="980000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" type="body"/>
          </p:nvPr>
        </p:nvSpPr>
        <p:spPr>
          <a:xfrm>
            <a:off x="638675" y="1089250"/>
            <a:ext cx="5790900" cy="31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  <a:defRPr>
                <a:solidFill>
                  <a:srgbClr val="000000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>
                <a:solidFill>
                  <a:srgbClr val="000000"/>
                </a:solidFill>
              </a:defRPr>
            </a:lvl2pPr>
            <a:lvl3pPr indent="-3302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Char char="■"/>
              <a:defRPr>
                <a:solidFill>
                  <a:srgbClr val="000000"/>
                </a:solidFill>
              </a:defRPr>
            </a:lvl3pPr>
            <a:lvl4pPr indent="-31115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  <a:defRPr>
                <a:solidFill>
                  <a:srgbClr val="000000"/>
                </a:solidFill>
              </a:defRPr>
            </a:lvl4pPr>
            <a:lvl5pPr indent="-2921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000"/>
              <a:buChar char="○"/>
              <a:defRPr>
                <a:solidFill>
                  <a:srgbClr val="000000"/>
                </a:solidFill>
              </a:defRPr>
            </a:lvl5pPr>
            <a:lvl6pPr indent="-2794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■"/>
              <a:defRPr>
                <a:solidFill>
                  <a:srgbClr val="000000"/>
                </a:solidFill>
              </a:defRPr>
            </a:lvl6pPr>
            <a:lvl7pPr indent="-2794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●"/>
              <a:defRPr>
                <a:solidFill>
                  <a:srgbClr val="000000"/>
                </a:solidFill>
              </a:defRPr>
            </a:lvl7pPr>
            <a:lvl8pPr indent="-2794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800"/>
              <a:buChar char="○"/>
              <a:defRPr>
                <a:solidFill>
                  <a:srgbClr val="000000"/>
                </a:solidFill>
              </a:defRPr>
            </a:lvl8pPr>
            <a:lvl9pPr indent="-2794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8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300"/>
          </a:p>
        </p:txBody>
      </p:sp>
      <p:sp>
        <p:nvSpPr>
          <p:cNvPr id="89" name="Google Shape;89;p13"/>
          <p:cNvSpPr txBox="1"/>
          <p:nvPr/>
        </p:nvSpPr>
        <p:spPr>
          <a:xfrm>
            <a:off x="4089400" y="4630425"/>
            <a:ext cx="3530700" cy="1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90" name="Google Shape;90;p13"/>
          <p:cNvSpPr txBox="1"/>
          <p:nvPr>
            <p:ph idx="2" type="subTitle"/>
          </p:nvPr>
        </p:nvSpPr>
        <p:spPr>
          <a:xfrm>
            <a:off x="4089400" y="4630425"/>
            <a:ext cx="3530700" cy="1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358">
          <p15:clr>
            <a:srgbClr val="FA7B17"/>
          </p15:clr>
        </p15:guide>
        <p15:guide id="2" pos="402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Text">
  <p:cSld name="TITLE_4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606225" y="269300"/>
            <a:ext cx="8382000" cy="8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638675" y="1089250"/>
            <a:ext cx="3183600" cy="31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2pPr>
            <a:lvl3pPr indent="-3302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indent="-31115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  <a:defRPr/>
            </a:lvl4pPr>
            <a:lvl5pPr indent="-2921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794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2" type="body"/>
          </p:nvPr>
        </p:nvSpPr>
        <p:spPr>
          <a:xfrm>
            <a:off x="4436400" y="1089250"/>
            <a:ext cx="3183600" cy="31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/>
            </a:lvl2pPr>
            <a:lvl3pPr indent="-3302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indent="-31115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  <a:defRPr/>
            </a:lvl4pPr>
            <a:lvl5pPr indent="-2921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794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300"/>
          </a:p>
        </p:txBody>
      </p:sp>
      <p:pic>
        <p:nvPicPr>
          <p:cNvPr id="96" name="Google Shape;9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7949" y="4527949"/>
            <a:ext cx="2512000" cy="2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>
            <p:ph idx="3" type="subTitle"/>
          </p:nvPr>
        </p:nvSpPr>
        <p:spPr>
          <a:xfrm>
            <a:off x="4089400" y="4630425"/>
            <a:ext cx="3530700" cy="1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4pPr>
            <a:lvl5pPr lvl="4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6pPr>
            <a:lvl7pPr lvl="6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8pPr>
            <a:lvl9pPr lvl="8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800"/>
              <a:buNone/>
              <a:defRPr/>
            </a:lvl9pPr>
          </a:lstStyle>
          <a:p/>
        </p:txBody>
      </p:sp>
      <p:pic>
        <p:nvPicPr>
          <p:cNvPr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8125" y="4405475"/>
            <a:ext cx="414509" cy="414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675" y="4514449"/>
            <a:ext cx="785021" cy="78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3041" y="4943591"/>
            <a:ext cx="325186" cy="325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mc:AlternateContent>
    <mc:Choice Requires="p14">
      <p:transition spd="slow" p14:dur="1100">
        <p:push dir="r"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olab.google/" TargetMode="External"/><Relationship Id="rId4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olab.google/" TargetMode="External"/><Relationship Id="rId4" Type="http://schemas.openxmlformats.org/officeDocument/2006/relationships/image" Target="../media/image20.png"/><Relationship Id="rId5" Type="http://schemas.openxmlformats.org/officeDocument/2006/relationships/image" Target="../media/image23.png"/><Relationship Id="rId6" Type="http://schemas.openxmlformats.org/officeDocument/2006/relationships/hyperlink" Target="https://colab.research.google.com/drive/16pBJQePbqkz3QFV54L4NIkOn1kwpuRrj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jupyter.org/" TargetMode="External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jupyter.org/" TargetMode="External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python.org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Relationship Id="rId4" Type="http://schemas.openxmlformats.org/officeDocument/2006/relationships/image" Target="../media/image9.png"/><Relationship Id="rId5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2.png"/><Relationship Id="rId4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png"/><Relationship Id="rId4" Type="http://schemas.openxmlformats.org/officeDocument/2006/relationships/image" Target="../media/image3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8.png"/><Relationship Id="rId4" Type="http://schemas.openxmlformats.org/officeDocument/2006/relationships/image" Target="../media/image24.png"/><Relationship Id="rId5" Type="http://schemas.openxmlformats.org/officeDocument/2006/relationships/image" Target="../media/image36.png"/><Relationship Id="rId6" Type="http://schemas.openxmlformats.org/officeDocument/2006/relationships/image" Target="../media/image2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Relationship Id="rId5" Type="http://schemas.openxmlformats.org/officeDocument/2006/relationships/image" Target="../media/image3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5.png"/><Relationship Id="rId4" Type="http://schemas.openxmlformats.org/officeDocument/2006/relationships/image" Target="../media/image2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9.png"/><Relationship Id="rId4" Type="http://schemas.openxmlformats.org/officeDocument/2006/relationships/image" Target="../media/image1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2.png"/><Relationship Id="rId4" Type="http://schemas.openxmlformats.org/officeDocument/2006/relationships/image" Target="../media/image3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>
            <p:ph type="ctrTitle"/>
          </p:nvPr>
        </p:nvSpPr>
        <p:spPr>
          <a:xfrm>
            <a:off x="1937075" y="230400"/>
            <a:ext cx="5682900" cy="2130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</a:pPr>
            <a:r>
              <a:rPr i="1" lang="en"/>
              <a:t>Hello, Python!</a:t>
            </a:r>
            <a:endParaRPr i="1"/>
          </a:p>
        </p:txBody>
      </p:sp>
      <p:sp>
        <p:nvSpPr>
          <p:cNvPr id="106" name="Google Shape;106;p15"/>
          <p:cNvSpPr txBox="1"/>
          <p:nvPr>
            <p:ph idx="1" type="subTitle"/>
          </p:nvPr>
        </p:nvSpPr>
        <p:spPr>
          <a:xfrm>
            <a:off x="447725" y="2563475"/>
            <a:ext cx="72336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>
                <a:latin typeface="Economica"/>
                <a:ea typeface="Economica"/>
                <a:cs typeface="Economica"/>
                <a:sym typeface="Economica"/>
              </a:rPr>
              <a:t>A quick introduction to </a:t>
            </a:r>
            <a:endParaRPr sz="2000">
              <a:latin typeface="Economica"/>
              <a:ea typeface="Economica"/>
              <a:cs typeface="Economica"/>
              <a:sym typeface="Economic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>
                <a:latin typeface="Economica"/>
                <a:ea typeface="Economica"/>
                <a:cs typeface="Economica"/>
                <a:sym typeface="Economica"/>
              </a:rPr>
              <a:t>Python syntax, variable assignment, and numbers</a:t>
            </a:r>
            <a:endParaRPr sz="20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50" y="-10175"/>
            <a:ext cx="9144000" cy="3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highlight>
                  <a:srgbClr val="351C75"/>
                </a:highlight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CMSC 320 - Introduction to Data Science</a:t>
            </a:r>
            <a:endParaRPr sz="1600">
              <a:solidFill>
                <a:schemeClr val="lt1"/>
              </a:solidFill>
              <a:highlight>
                <a:srgbClr val="351C75"/>
              </a:highlight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3772375" y="3433475"/>
            <a:ext cx="37332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E42524"/>
              </a:buClr>
              <a:buSzPts val="2200"/>
              <a:buFont typeface="Source Sans Pro"/>
              <a:buChar char="-"/>
            </a:pPr>
            <a:r>
              <a:rPr i="1" lang="en" sz="2200">
                <a:solidFill>
                  <a:srgbClr val="E42524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Dr. Fardina Alam</a:t>
            </a:r>
            <a:endParaRPr i="1" sz="2200">
              <a:solidFill>
                <a:srgbClr val="E42524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rPr lang="en"/>
              <a:t>Importance</a:t>
            </a:r>
            <a:endParaRPr/>
          </a:p>
        </p:txBody>
      </p:sp>
      <p:sp>
        <p:nvSpPr>
          <p:cNvPr id="114" name="Google Shape;114;p16"/>
          <p:cNvSpPr txBox="1"/>
          <p:nvPr>
            <p:ph idx="1" type="body"/>
          </p:nvPr>
        </p:nvSpPr>
        <p:spPr>
          <a:xfrm>
            <a:off x="729450" y="18823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1500"/>
              <a:t>Python</a:t>
            </a:r>
            <a:r>
              <a:rPr lang="en" sz="1500"/>
              <a:t>: It's a user-friendly language for data analysis.</a:t>
            </a:r>
            <a:endParaRPr sz="15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1500"/>
              <a:t>Git</a:t>
            </a:r>
            <a:r>
              <a:rPr lang="en" sz="1500"/>
              <a:t>: Helps manage code and data changes when working with a team. (LATER TOPIC)</a:t>
            </a:r>
            <a:endParaRPr sz="15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1500"/>
              <a:t>Pandas</a:t>
            </a:r>
            <a:r>
              <a:rPr lang="en" sz="1500"/>
              <a:t>: Simplifies data cleaning and manipulation. </a:t>
            </a:r>
            <a:r>
              <a:rPr lang="en" sz="1500"/>
              <a:t>(LATER TOPIC)</a:t>
            </a:r>
            <a:endParaRPr sz="15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1500"/>
              <a:t>Databases</a:t>
            </a:r>
            <a:r>
              <a:rPr lang="en" sz="1500"/>
              <a:t>: Needed for storing and retrieving data efficiently. </a:t>
            </a:r>
            <a:r>
              <a:rPr lang="en" sz="1500"/>
              <a:t>(LATER TOPIC)</a:t>
            </a:r>
            <a:endParaRPr sz="1500"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506142" y="4143482"/>
            <a:ext cx="88071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These skills are essential for effective data analysis, collaboration, and handling data in real-world projects.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>
            <p:ph type="title"/>
          </p:nvPr>
        </p:nvSpPr>
        <p:spPr>
          <a:xfrm>
            <a:off x="606225" y="385025"/>
            <a:ext cx="83820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980000"/>
                </a:solidFill>
              </a:rPr>
              <a:t>Topics to Cover</a:t>
            </a:r>
            <a:endParaRPr>
              <a:solidFill>
                <a:srgbClr val="980000"/>
              </a:solidFill>
            </a:endParaRPr>
          </a:p>
        </p:txBody>
      </p:sp>
      <p:sp>
        <p:nvSpPr>
          <p:cNvPr id="122" name="Google Shape;122;p17"/>
          <p:cNvSpPr txBox="1"/>
          <p:nvPr>
            <p:ph idx="4294967295" type="body"/>
          </p:nvPr>
        </p:nvSpPr>
        <p:spPr>
          <a:xfrm>
            <a:off x="562475" y="1336325"/>
            <a:ext cx="6219300" cy="24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Introduction to Python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Syntax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Variable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Assignment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Numbers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In -class exercises </a:t>
            </a:r>
            <a:r>
              <a:rPr lang="en">
                <a:solidFill>
                  <a:schemeClr val="dk2"/>
                </a:solidFill>
              </a:rPr>
              <a:t>(LATER TOPIC)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400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3" name="Google Shape;123;p17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>
            <p:ph type="title"/>
          </p:nvPr>
        </p:nvSpPr>
        <p:spPr>
          <a:xfrm>
            <a:off x="606225" y="385025"/>
            <a:ext cx="8382000" cy="62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we get started</a:t>
            </a:r>
            <a:endParaRPr/>
          </a:p>
        </p:txBody>
      </p:sp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38675" y="1089250"/>
            <a:ext cx="6638400" cy="22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We're going to be working in 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Google Colab</a:t>
            </a:r>
            <a:r>
              <a:rPr lang="en" sz="1500"/>
              <a:t>  today and also for the course!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8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300"/>
          </a:p>
        </p:txBody>
      </p:sp>
      <p:sp>
        <p:nvSpPr>
          <p:cNvPr id="131" name="Google Shape;131;p18"/>
          <p:cNvSpPr txBox="1"/>
          <p:nvPr/>
        </p:nvSpPr>
        <p:spPr>
          <a:xfrm>
            <a:off x="1295400" y="1870800"/>
            <a:ext cx="5702400" cy="22761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Quick Note:</a:t>
            </a:r>
            <a:r>
              <a:rPr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Google Colab is a f</a:t>
            </a:r>
            <a:r>
              <a:rPr b="1"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ree, cloud-based platform</a:t>
            </a:r>
            <a:r>
              <a:rPr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provided by Google that allows you to write and execute Python code in a web-based interactive environment. It is particularly popular in the field of machine learning and data analysis; 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requires no setup to use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provides free access to computing resources, including GPUs and TPUs. 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allows multiple people to work on the same notebook simultaneously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2" name="Google Shape;132;p18"/>
          <p:cNvPicPr preferRelativeResize="0"/>
          <p:nvPr/>
        </p:nvPicPr>
        <p:blipFill rotWithShape="1">
          <a:blip r:embed="rId4">
            <a:alphaModFix/>
          </a:blip>
          <a:srcRect b="14974" l="8051" r="8336" t="11403"/>
          <a:stretch/>
        </p:blipFill>
        <p:spPr>
          <a:xfrm>
            <a:off x="5826125" y="2"/>
            <a:ext cx="3086101" cy="1201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/>
          <p:nvPr/>
        </p:nvSpPr>
        <p:spPr>
          <a:xfrm>
            <a:off x="304800" y="1752600"/>
            <a:ext cx="6035100" cy="33273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" name="Google Shape;138;p19"/>
          <p:cNvSpPr txBox="1"/>
          <p:nvPr>
            <p:ph type="title"/>
          </p:nvPr>
        </p:nvSpPr>
        <p:spPr>
          <a:xfrm>
            <a:off x="606225" y="385025"/>
            <a:ext cx="8382000" cy="62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we get started</a:t>
            </a:r>
            <a:endParaRPr/>
          </a:p>
        </p:txBody>
      </p:sp>
      <p:sp>
        <p:nvSpPr>
          <p:cNvPr id="139" name="Google Shape;139;p19"/>
          <p:cNvSpPr txBox="1"/>
          <p:nvPr>
            <p:ph idx="1" type="body"/>
          </p:nvPr>
        </p:nvSpPr>
        <p:spPr>
          <a:xfrm>
            <a:off x="257675" y="1013050"/>
            <a:ext cx="5876400" cy="31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We're going to be working in </a:t>
            </a:r>
            <a:r>
              <a:rPr lang="en" u="sng">
                <a:solidFill>
                  <a:schemeClr val="hlink"/>
                </a:solidFill>
                <a:hlinkClick r:id="rId3"/>
              </a:rPr>
              <a:t>Google Colab</a:t>
            </a:r>
            <a:r>
              <a:rPr lang="en"/>
              <a:t>  today and also for the course!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load yours, do the following: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Sign in</a:t>
            </a:r>
            <a:r>
              <a:rPr lang="en" sz="1400"/>
              <a:t> with your Google account</a:t>
            </a:r>
            <a:endParaRPr sz="14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Once signed in, click on the </a:t>
            </a:r>
            <a:r>
              <a:rPr b="1" lang="en" sz="1400"/>
              <a:t>"New Notebook" </a:t>
            </a:r>
            <a:r>
              <a:rPr lang="en" sz="1400"/>
              <a:t>button. This will create a new Jupyter notebook hosted on Google Colab. </a:t>
            </a:r>
            <a:r>
              <a:rPr b="1" lang="en" sz="1400"/>
              <a:t>Rename</a:t>
            </a:r>
            <a:r>
              <a:rPr lang="en" sz="1400"/>
              <a:t> it as “</a:t>
            </a:r>
            <a:r>
              <a:rPr b="1" lang="en" sz="1400"/>
              <a:t>CMSC320-class1-Your_UID.ipynb</a:t>
            </a:r>
            <a:r>
              <a:rPr lang="en" sz="1400"/>
              <a:t>”</a:t>
            </a:r>
            <a:endParaRPr sz="14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 </a:t>
            </a:r>
            <a:r>
              <a:rPr b="1" lang="en" sz="1400"/>
              <a:t>Default Runtime</a:t>
            </a:r>
            <a:r>
              <a:rPr lang="en" sz="1400"/>
              <a:t> is given: Python3 (with CPU).</a:t>
            </a:r>
            <a:endParaRPr sz="14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If you </a:t>
            </a:r>
            <a:r>
              <a:rPr b="1" lang="en" sz="1400"/>
              <a:t>want to change i</a:t>
            </a:r>
            <a:r>
              <a:rPr lang="en" sz="1400"/>
              <a:t>t; Go to the "Runtime" menu at the top and click on "Change runtime type."</a:t>
            </a:r>
            <a:endParaRPr sz="14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Use Colab's notebook cells to </a:t>
            </a:r>
            <a:r>
              <a:rPr b="1" lang="en" sz="1400"/>
              <a:t>write and execute</a:t>
            </a:r>
            <a:r>
              <a:rPr lang="en" sz="1400"/>
              <a:t> Python code.</a:t>
            </a:r>
            <a:endParaRPr sz="14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Use “+code/+text” to </a:t>
            </a:r>
            <a:r>
              <a:rPr b="1" lang="en" sz="1400"/>
              <a:t>create new</a:t>
            </a:r>
            <a:r>
              <a:rPr lang="en" sz="1400"/>
              <a:t> code block/ comment block</a:t>
            </a:r>
            <a:endParaRPr sz="14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Execute a cell </a:t>
            </a:r>
            <a:r>
              <a:rPr lang="en" sz="1400"/>
              <a:t>by clicking 'Play' button next to the cell  or using 'Shift + Enter'.</a:t>
            </a:r>
            <a:endParaRPr sz="1400"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Save</a:t>
            </a:r>
            <a:r>
              <a:rPr lang="en" sz="1400"/>
              <a:t> manually through 'File' or let Colab auto-save to Google Drive for work preservation.</a:t>
            </a:r>
            <a:endParaRPr sz="1400"/>
          </a:p>
        </p:txBody>
      </p:sp>
      <p:sp>
        <p:nvSpPr>
          <p:cNvPr id="140" name="Google Shape;140;p19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141" name="Google Shape;141;p19"/>
          <p:cNvPicPr preferRelativeResize="0"/>
          <p:nvPr/>
        </p:nvPicPr>
        <p:blipFill rotWithShape="1">
          <a:blip r:embed="rId4">
            <a:alphaModFix/>
          </a:blip>
          <a:srcRect b="0" l="0" r="3892" t="0"/>
          <a:stretch/>
        </p:blipFill>
        <p:spPr>
          <a:xfrm>
            <a:off x="6388100" y="2245250"/>
            <a:ext cx="2694925" cy="136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9"/>
          <p:cNvPicPr preferRelativeResize="0"/>
          <p:nvPr/>
        </p:nvPicPr>
        <p:blipFill rotWithShape="1">
          <a:blip r:embed="rId5">
            <a:alphaModFix/>
          </a:blip>
          <a:srcRect b="14974" l="8051" r="8336" t="11403"/>
          <a:stretch/>
        </p:blipFill>
        <p:spPr>
          <a:xfrm>
            <a:off x="5996925" y="-55098"/>
            <a:ext cx="3086101" cy="120154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9"/>
          <p:cNvSpPr txBox="1"/>
          <p:nvPr/>
        </p:nvSpPr>
        <p:spPr>
          <a:xfrm>
            <a:off x="6464300" y="4521200"/>
            <a:ext cx="1230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6"/>
              </a:rPr>
              <a:t>More Details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/>
          <p:nvPr>
            <p:ph type="title"/>
          </p:nvPr>
        </p:nvSpPr>
        <p:spPr>
          <a:xfrm>
            <a:off x="606225" y="385025"/>
            <a:ext cx="8382000" cy="62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we get started</a:t>
            </a:r>
            <a:endParaRPr/>
          </a:p>
        </p:txBody>
      </p:sp>
      <p:sp>
        <p:nvSpPr>
          <p:cNvPr id="149" name="Google Shape;149;p20"/>
          <p:cNvSpPr txBox="1"/>
          <p:nvPr>
            <p:ph idx="1" type="body"/>
          </p:nvPr>
        </p:nvSpPr>
        <p:spPr>
          <a:xfrm>
            <a:off x="638675" y="1089250"/>
            <a:ext cx="6638400" cy="22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There is another populer alternative: </a:t>
            </a:r>
            <a:r>
              <a:rPr lang="en" sz="1500"/>
              <a:t> 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Jupyter Notebook</a:t>
            </a:r>
            <a:r>
              <a:rPr lang="en" sz="1500"/>
              <a:t> 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0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300"/>
          </a:p>
        </p:txBody>
      </p:sp>
      <p:sp>
        <p:nvSpPr>
          <p:cNvPr id="151" name="Google Shape;151;p20"/>
          <p:cNvSpPr txBox="1"/>
          <p:nvPr/>
        </p:nvSpPr>
        <p:spPr>
          <a:xfrm>
            <a:off x="1295400" y="1870800"/>
            <a:ext cx="5702400" cy="1964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Quick Note:</a:t>
            </a:r>
            <a:r>
              <a:rPr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Jupyter Notebook is an open-source web application that allows you to create and share documents that contain live code, equations, visualizations, and narrative text.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It </a:t>
            </a:r>
            <a:r>
              <a:rPr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runs on your local machine, and you can access it through your web browser. 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Lato"/>
              <a:buChar char="○"/>
            </a:pPr>
            <a:r>
              <a:rPr lang="en" sz="1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Means you have full control over your environment and can easily install any libraries or packages you need.</a:t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139700" y="4367950"/>
            <a:ext cx="7759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Check:</a:t>
            </a:r>
            <a:r>
              <a:rPr lang="en"/>
              <a:t>https://medium.com/@jknrjayalath/jupyter-notebook-vs-google-colab-colaboratory-77dbbafdc636</a:t>
            </a:r>
            <a:endParaRPr/>
          </a:p>
        </p:txBody>
      </p:sp>
      <p:pic>
        <p:nvPicPr>
          <p:cNvPr id="153" name="Google Shape;15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1200" y="0"/>
            <a:ext cx="2002725" cy="1625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/>
          <p:nvPr>
            <p:ph type="title"/>
          </p:nvPr>
        </p:nvSpPr>
        <p:spPr>
          <a:xfrm>
            <a:off x="606225" y="385025"/>
            <a:ext cx="8382000" cy="62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we get started</a:t>
            </a:r>
            <a:endParaRPr/>
          </a:p>
        </p:txBody>
      </p:sp>
      <p:sp>
        <p:nvSpPr>
          <p:cNvPr id="159" name="Google Shape;159;p21"/>
          <p:cNvSpPr txBox="1"/>
          <p:nvPr>
            <p:ph idx="1" type="body"/>
          </p:nvPr>
        </p:nvSpPr>
        <p:spPr>
          <a:xfrm>
            <a:off x="638675" y="1089250"/>
            <a:ext cx="6638400" cy="22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There is another populer alternative:  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Jupyter Notebook</a:t>
            </a:r>
            <a:r>
              <a:rPr lang="en" sz="1500"/>
              <a:t> 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1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300"/>
          </a:p>
        </p:txBody>
      </p:sp>
      <p:pic>
        <p:nvPicPr>
          <p:cNvPr id="161" name="Google Shape;16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1200" y="0"/>
            <a:ext cx="2002725" cy="162559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1"/>
          <p:cNvSpPr/>
          <p:nvPr/>
        </p:nvSpPr>
        <p:spPr>
          <a:xfrm>
            <a:off x="304800" y="1752600"/>
            <a:ext cx="6035100" cy="33273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3" name="Google Shape;163;p21"/>
          <p:cNvSpPr txBox="1"/>
          <p:nvPr/>
        </p:nvSpPr>
        <p:spPr>
          <a:xfrm>
            <a:off x="736600" y="1955800"/>
            <a:ext cx="5257800" cy="26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Ensure Python is installed on your system. Download from python.org.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Open a command prompt or terminal.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b="1"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Install: </a:t>
            </a: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Run the following command to install Jupyter: </a:t>
            </a:r>
            <a:r>
              <a:rPr b="1"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pip install jupyter</a:t>
            </a:r>
            <a:endParaRPr b="1"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b="1"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Start: </a:t>
            </a: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In the command prompt or terminal, type jupyter notebook and press Enter. A new browser window/tab will open with the Jupyter Notebook interface.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b="1"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Using Jupyter Notebook:</a:t>
            </a: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Create a new notebook, add cells for code or text, and execute code interactively.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Use Markdown cells for narrative text and visualizations.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Lato"/>
              <a:buChar char="●"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Save and share notebooks in various formats, including HTML and PDF.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/>
          <p:nvPr>
            <p:ph type="title"/>
          </p:nvPr>
        </p:nvSpPr>
        <p:spPr>
          <a:xfrm>
            <a:off x="606225" y="385025"/>
            <a:ext cx="8382000" cy="62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Python?</a:t>
            </a:r>
            <a:endParaRPr/>
          </a:p>
        </p:txBody>
      </p:sp>
      <p:sp>
        <p:nvSpPr>
          <p:cNvPr id="169" name="Google Shape;169;p22"/>
          <p:cNvSpPr txBox="1"/>
          <p:nvPr>
            <p:ph idx="1" type="body"/>
          </p:nvPr>
        </p:nvSpPr>
        <p:spPr>
          <a:xfrm>
            <a:off x="487125" y="1187600"/>
            <a:ext cx="5658000" cy="31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Python is a </a:t>
            </a:r>
            <a:r>
              <a:rPr b="1" lang="en" sz="1400"/>
              <a:t>Interpreted (i.e. non-compiled), high-level programming language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70" name="Google Shape;170;p22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300"/>
          </a:p>
        </p:txBody>
      </p:sp>
      <p:pic>
        <p:nvPicPr>
          <p:cNvPr id="171" name="Google Shape;17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7525" y="1163525"/>
            <a:ext cx="2694075" cy="3291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2"/>
          <p:cNvSpPr txBox="1"/>
          <p:nvPr/>
        </p:nvSpPr>
        <p:spPr>
          <a:xfrm>
            <a:off x="720325" y="1794500"/>
            <a:ext cx="5256000" cy="3114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 widely used programming language known for its readability and simplicity.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Interpreter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executes source code directly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; do not require a separate compilation step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Designed to be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 intuitive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and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easy to program in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(read/write)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Supports dynamic typing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, allowing variables to change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types during runtime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lso has a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focus on importing modules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, a feature that makes it useful for scientific computing.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Runs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on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most operating system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s and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platforms</a:t>
            </a:r>
            <a:endParaRPr b="1"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Slow to run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"/>
          <p:cNvSpPr txBox="1"/>
          <p:nvPr>
            <p:ph type="title"/>
          </p:nvPr>
        </p:nvSpPr>
        <p:spPr>
          <a:xfrm>
            <a:off x="606225" y="385025"/>
            <a:ext cx="8382000" cy="62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Started with </a:t>
            </a:r>
            <a:r>
              <a:rPr lang="en"/>
              <a:t>Python</a:t>
            </a:r>
            <a:endParaRPr/>
          </a:p>
        </p:txBody>
      </p:sp>
      <p:sp>
        <p:nvSpPr>
          <p:cNvPr id="178" name="Google Shape;178;p23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300"/>
          </a:p>
        </p:txBody>
      </p:sp>
      <p:sp>
        <p:nvSpPr>
          <p:cNvPr id="179" name="Google Shape;179;p23"/>
          <p:cNvSpPr txBox="1"/>
          <p:nvPr/>
        </p:nvSpPr>
        <p:spPr>
          <a:xfrm>
            <a:off x="697825" y="1011125"/>
            <a:ext cx="7244100" cy="3134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Download and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install Python 3</a:t>
            </a:r>
            <a:r>
              <a:rPr lang="en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from </a:t>
            </a:r>
            <a:r>
              <a:rPr lang="en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python.org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Note: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Python 2.7 is no longer maintained; transition to Python 3.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Install useful Dependencies: Use pip to install essential data science libraries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pip install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numpy, matplotlib, scipy, pandas, sklearn,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…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Download an IDE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 of your choice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Visual Studio, PyCharm, Sublime Text, Spyder, etc.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https://stackoverflow.com/questions/81584/what-ide-to-use-for-python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Run interactively in a Jupyter notebook, Google Colab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Recap: For this course, we will mostly use Google Colab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.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9658"/>
              <a:buNone/>
            </a:pPr>
            <a:r>
              <a:t/>
            </a:r>
            <a:endParaRPr/>
          </a:p>
        </p:txBody>
      </p:sp>
      <p:sp>
        <p:nvSpPr>
          <p:cNvPr id="185" name="Google Shape;185;p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86" name="Google Shape;18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00" y="54550"/>
            <a:ext cx="91023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4"/>
          <p:cNvSpPr txBox="1"/>
          <p:nvPr/>
        </p:nvSpPr>
        <p:spPr>
          <a:xfrm>
            <a:off x="4182200" y="1412425"/>
            <a:ext cx="14583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is unintentionally an infinite loop, needs an </a:t>
            </a:r>
            <a:b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 +=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" name="Google Shape;188;p24"/>
          <p:cNvCxnSpPr/>
          <p:nvPr/>
        </p:nvCxnSpPr>
        <p:spPr>
          <a:xfrm flipH="1">
            <a:off x="1971675" y="1981050"/>
            <a:ext cx="2155500" cy="32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9" name="Google Shape;189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0" name="Google Shape;190;p24"/>
          <p:cNvSpPr txBox="1"/>
          <p:nvPr>
            <p:ph type="title"/>
          </p:nvPr>
        </p:nvSpPr>
        <p:spPr>
          <a:xfrm>
            <a:off x="3061250" y="237450"/>
            <a:ext cx="5913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rgbClr val="980000"/>
                </a:solidFill>
              </a:rPr>
              <a:t>A Python Code</a:t>
            </a:r>
            <a:endParaRPr sz="31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5"/>
          <p:cNvSpPr txBox="1"/>
          <p:nvPr>
            <p:ph type="title"/>
          </p:nvPr>
        </p:nvSpPr>
        <p:spPr>
          <a:xfrm>
            <a:off x="606225" y="385025"/>
            <a:ext cx="8382000" cy="62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Try! What’s the output?</a:t>
            </a:r>
            <a:endParaRPr/>
          </a:p>
        </p:txBody>
      </p:sp>
      <p:sp>
        <p:nvSpPr>
          <p:cNvPr id="196" name="Google Shape;196;p25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300"/>
          </a:p>
        </p:txBody>
      </p:sp>
      <p:pic>
        <p:nvPicPr>
          <p:cNvPr id="197" name="Google Shape;197;p25"/>
          <p:cNvPicPr preferRelativeResize="0"/>
          <p:nvPr/>
        </p:nvPicPr>
        <p:blipFill rotWithShape="1">
          <a:blip r:embed="rId3">
            <a:alphaModFix/>
          </a:blip>
          <a:srcRect b="0" l="0" r="0" t="6672"/>
          <a:stretch/>
        </p:blipFill>
        <p:spPr>
          <a:xfrm>
            <a:off x="638175" y="1374275"/>
            <a:ext cx="7486051" cy="310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 txBox="1"/>
          <p:nvPr>
            <p:ph type="title"/>
          </p:nvPr>
        </p:nvSpPr>
        <p:spPr>
          <a:xfrm>
            <a:off x="606225" y="385025"/>
            <a:ext cx="8382000" cy="62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 and Types</a:t>
            </a:r>
            <a:endParaRPr/>
          </a:p>
        </p:txBody>
      </p:sp>
      <p:sp>
        <p:nvSpPr>
          <p:cNvPr id="203" name="Google Shape;203;p26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300"/>
          </a:p>
        </p:txBody>
      </p:sp>
      <p:sp>
        <p:nvSpPr>
          <p:cNvPr id="204" name="Google Shape;204;p26"/>
          <p:cNvSpPr txBox="1"/>
          <p:nvPr/>
        </p:nvSpPr>
        <p:spPr>
          <a:xfrm>
            <a:off x="606225" y="961075"/>
            <a:ext cx="8154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D</a:t>
            </a:r>
            <a:r>
              <a:rPr b="1" lang="en" sz="1700"/>
              <a:t>ynamically typed: </a:t>
            </a:r>
            <a:r>
              <a:rPr lang="en" sz="1700"/>
              <a:t>the type of the variable is derived from the value it is assigned.</a:t>
            </a:r>
            <a:endParaRPr sz="1700"/>
          </a:p>
        </p:txBody>
      </p:sp>
      <p:sp>
        <p:nvSpPr>
          <p:cNvPr id="205" name="Google Shape;205;p26"/>
          <p:cNvSpPr txBox="1"/>
          <p:nvPr/>
        </p:nvSpPr>
        <p:spPr>
          <a:xfrm>
            <a:off x="638175" y="1662225"/>
            <a:ext cx="3000000" cy="1477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Numbers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Integer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Float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Complex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Boolean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String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6" name="Google Shape;206;p26"/>
          <p:cNvSpPr txBox="1"/>
          <p:nvPr/>
        </p:nvSpPr>
        <p:spPr>
          <a:xfrm>
            <a:off x="3810000" y="1662225"/>
            <a:ext cx="469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variable is assigned using the = operator; i.e:</a:t>
            </a:r>
            <a:endParaRPr/>
          </a:p>
        </p:txBody>
      </p:sp>
      <p:pic>
        <p:nvPicPr>
          <p:cNvPr id="207" name="Google Shape;20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0575" y="2062425"/>
            <a:ext cx="5201025" cy="2058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"/>
          <p:cNvSpPr txBox="1"/>
          <p:nvPr>
            <p:ph type="title"/>
          </p:nvPr>
        </p:nvSpPr>
        <p:spPr>
          <a:xfrm>
            <a:off x="606225" y="385025"/>
            <a:ext cx="8382000" cy="62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Operators</a:t>
            </a:r>
            <a:endParaRPr/>
          </a:p>
        </p:txBody>
      </p:sp>
      <p:sp>
        <p:nvSpPr>
          <p:cNvPr id="213" name="Google Shape;213;p27"/>
          <p:cNvSpPr txBox="1"/>
          <p:nvPr>
            <p:ph idx="1" type="body"/>
          </p:nvPr>
        </p:nvSpPr>
        <p:spPr>
          <a:xfrm>
            <a:off x="638675" y="1089250"/>
            <a:ext cx="3933300" cy="22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Arithmetic Operators 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+         #addition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-          #subtraction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*         #multiplication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**       # power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%        # modulus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“in”    # check if element is in container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Increment </a:t>
            </a:r>
            <a:r>
              <a:rPr b="1" lang="en" sz="1600"/>
              <a:t>Operator: </a:t>
            </a:r>
            <a:r>
              <a:rPr lang="en" sz="1600"/>
              <a:t>x += y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Others: </a:t>
            </a:r>
            <a:r>
              <a:rPr lang="en" sz="1600"/>
              <a:t>x *= y, x -= y etc.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214" name="Google Shape;214;p27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300"/>
          </a:p>
        </p:txBody>
      </p:sp>
      <p:sp>
        <p:nvSpPr>
          <p:cNvPr id="215" name="Google Shape;215;p27"/>
          <p:cNvSpPr txBox="1"/>
          <p:nvPr>
            <p:ph idx="1" type="body"/>
          </p:nvPr>
        </p:nvSpPr>
        <p:spPr>
          <a:xfrm>
            <a:off x="4721800" y="1174575"/>
            <a:ext cx="4422300" cy="22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Boolean  Operators</a:t>
            </a:r>
            <a:r>
              <a:rPr b="1" lang="en" sz="1600"/>
              <a:t> (useful for conditional statements )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and, or,not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216" name="Google Shape;216;p27"/>
          <p:cNvSpPr txBox="1"/>
          <p:nvPr/>
        </p:nvSpPr>
        <p:spPr>
          <a:xfrm>
            <a:off x="4721800" y="2253800"/>
            <a:ext cx="3783900" cy="15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Lato"/>
                <a:ea typeface="Lato"/>
                <a:cs typeface="Lato"/>
                <a:sym typeface="Lato"/>
              </a:rPr>
              <a:t>Comparison</a:t>
            </a:r>
            <a:r>
              <a:rPr b="1" lang="en" sz="1600">
                <a:latin typeface="Lato"/>
                <a:ea typeface="Lato"/>
                <a:cs typeface="Lato"/>
                <a:sym typeface="Lato"/>
              </a:rPr>
              <a:t> Operators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Greater than: &gt;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Lesser than: &lt;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Greater than or equal to: &gt;=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Lesser than or equal to: &lt;=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Is equal to: ==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300"/>
          </a:p>
        </p:txBody>
      </p:sp>
      <p:pic>
        <p:nvPicPr>
          <p:cNvPr id="222" name="Google Shape;22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7475" y="649950"/>
            <a:ext cx="2924500" cy="37165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pic>
        <p:nvPicPr>
          <p:cNvPr id="223" name="Google Shape;22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675" y="649950"/>
            <a:ext cx="5812673" cy="181800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pic>
        <p:nvPicPr>
          <p:cNvPr id="224" name="Google Shape;224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620350"/>
            <a:ext cx="5730149" cy="25054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sp>
        <p:nvSpPr>
          <p:cNvPr id="225" name="Google Shape;225;p28"/>
          <p:cNvSpPr txBox="1"/>
          <p:nvPr>
            <p:ph type="title"/>
          </p:nvPr>
        </p:nvSpPr>
        <p:spPr>
          <a:xfrm>
            <a:off x="134675" y="0"/>
            <a:ext cx="8382000" cy="62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Examples: </a:t>
            </a:r>
            <a:r>
              <a:rPr lang="en"/>
              <a:t>Basic Operators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 txBox="1"/>
          <p:nvPr>
            <p:ph type="title"/>
          </p:nvPr>
        </p:nvSpPr>
        <p:spPr>
          <a:xfrm>
            <a:off x="606225" y="385025"/>
            <a:ext cx="8382000" cy="62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 Assignment</a:t>
            </a:r>
            <a:endParaRPr/>
          </a:p>
        </p:txBody>
      </p:sp>
      <p:sp>
        <p:nvSpPr>
          <p:cNvPr id="231" name="Google Shape;231;p29"/>
          <p:cNvSpPr txBox="1"/>
          <p:nvPr>
            <p:ph idx="1" type="body"/>
          </p:nvPr>
        </p:nvSpPr>
        <p:spPr>
          <a:xfrm>
            <a:off x="5030325" y="1165450"/>
            <a:ext cx="3940200" cy="311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B5394"/>
                </a:solidFill>
              </a:rPr>
              <a:t> </a:t>
            </a:r>
            <a:r>
              <a:rPr b="1" lang="en">
                <a:solidFill>
                  <a:srgbClr val="0B5394"/>
                </a:solidFill>
              </a:rPr>
              <a:t>Interesting Facts:</a:t>
            </a:r>
            <a:endParaRPr b="1">
              <a:solidFill>
                <a:srgbClr val="0B5394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>
                <a:solidFill>
                  <a:schemeClr val="dk1"/>
                </a:solidFill>
              </a:rPr>
              <a:t>No </a:t>
            </a:r>
            <a:r>
              <a:rPr lang="en" sz="2000">
                <a:solidFill>
                  <a:schemeClr val="dk1"/>
                </a:solidFill>
              </a:rPr>
              <a:t>need to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➔"/>
            </a:pPr>
            <a:r>
              <a:rPr lang="en" sz="2000">
                <a:solidFill>
                  <a:schemeClr val="dk1"/>
                </a:solidFill>
              </a:rPr>
              <a:t>explicitly “declare” a variable before assigning a value to it.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➔"/>
            </a:pPr>
            <a:r>
              <a:rPr lang="en" sz="2000">
                <a:solidFill>
                  <a:schemeClr val="dk1"/>
                </a:solidFill>
              </a:rPr>
              <a:t>“specify” the type of value the variable will refer to; can re-assign it to different types (string, boolean etc.)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32" name="Google Shape;232;p29"/>
          <p:cNvSpPr txBox="1"/>
          <p:nvPr/>
        </p:nvSpPr>
        <p:spPr>
          <a:xfrm>
            <a:off x="479375" y="2303600"/>
            <a:ext cx="3030600" cy="80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74E1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spam_amount =  0</a:t>
            </a:r>
            <a:endParaRPr sz="2400">
              <a:solidFill>
                <a:srgbClr val="274E1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33" name="Google Shape;233;p29"/>
          <p:cNvSpPr txBox="1"/>
          <p:nvPr/>
        </p:nvSpPr>
        <p:spPr>
          <a:xfrm>
            <a:off x="1144425" y="1571975"/>
            <a:ext cx="2428500" cy="626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200">
                <a:solidFill>
                  <a:srgbClr val="FCE5CD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Variable</a:t>
            </a:r>
            <a:endParaRPr i="1" sz="2200">
              <a:solidFill>
                <a:srgbClr val="FCE5CD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234" name="Google Shape;234;p29"/>
          <p:cNvSpPr txBox="1"/>
          <p:nvPr/>
        </p:nvSpPr>
        <p:spPr>
          <a:xfrm>
            <a:off x="2632250" y="1601300"/>
            <a:ext cx="2259600" cy="626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200">
                <a:solidFill>
                  <a:srgbClr val="FCE5CD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Assign the value</a:t>
            </a:r>
            <a:endParaRPr i="1" sz="2200">
              <a:solidFill>
                <a:srgbClr val="FCE5CD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sp>
        <p:nvSpPr>
          <p:cNvPr id="235" name="Google Shape;235;p29"/>
          <p:cNvSpPr txBox="1"/>
          <p:nvPr/>
        </p:nvSpPr>
        <p:spPr>
          <a:xfrm>
            <a:off x="1267700" y="3590925"/>
            <a:ext cx="2736900" cy="85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200">
                <a:solidFill>
                  <a:srgbClr val="FCE5CD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Assignment Operator</a:t>
            </a:r>
            <a:endParaRPr i="1" sz="2200">
              <a:solidFill>
                <a:srgbClr val="FCE5CD"/>
              </a:solidFill>
              <a:latin typeface="Red Hat Display Medium"/>
              <a:ea typeface="Red Hat Display Medium"/>
              <a:cs typeface="Red Hat Display Medium"/>
              <a:sym typeface="Red Hat Display Medium"/>
            </a:endParaRPr>
          </a:p>
        </p:txBody>
      </p:sp>
      <p:cxnSp>
        <p:nvCxnSpPr>
          <p:cNvPr id="236" name="Google Shape;236;p29"/>
          <p:cNvCxnSpPr/>
          <p:nvPr/>
        </p:nvCxnSpPr>
        <p:spPr>
          <a:xfrm flipH="1">
            <a:off x="1408375" y="1986975"/>
            <a:ext cx="213900" cy="440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7" name="Google Shape;237;p29"/>
          <p:cNvCxnSpPr/>
          <p:nvPr/>
        </p:nvCxnSpPr>
        <p:spPr>
          <a:xfrm flipH="1" rot="10800000">
            <a:off x="2502575" y="2753950"/>
            <a:ext cx="50400" cy="8553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8" name="Google Shape;238;p29"/>
          <p:cNvSpPr/>
          <p:nvPr/>
        </p:nvSpPr>
        <p:spPr>
          <a:xfrm flipH="1">
            <a:off x="1800700" y="2121875"/>
            <a:ext cx="1068900" cy="2997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"/>
          <p:cNvSpPr txBox="1"/>
          <p:nvPr>
            <p:ph type="title"/>
          </p:nvPr>
        </p:nvSpPr>
        <p:spPr>
          <a:xfrm>
            <a:off x="606225" y="385025"/>
            <a:ext cx="8382000" cy="62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 Call</a:t>
            </a:r>
            <a:endParaRPr/>
          </a:p>
        </p:txBody>
      </p:sp>
      <p:sp>
        <p:nvSpPr>
          <p:cNvPr id="244" name="Google Shape;244;p30"/>
          <p:cNvSpPr txBox="1"/>
          <p:nvPr/>
        </p:nvSpPr>
        <p:spPr>
          <a:xfrm>
            <a:off x="479375" y="2303600"/>
            <a:ext cx="3030600" cy="80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74E1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print(spam_amount)</a:t>
            </a:r>
            <a:endParaRPr sz="2400">
              <a:solidFill>
                <a:srgbClr val="274E1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245" name="Google Shape;245;p30"/>
          <p:cNvPicPr preferRelativeResize="0"/>
          <p:nvPr/>
        </p:nvPicPr>
        <p:blipFill rotWithShape="1">
          <a:blip r:embed="rId3">
            <a:alphaModFix/>
          </a:blip>
          <a:srcRect b="0" l="0" r="0" t="6672"/>
          <a:stretch/>
        </p:blipFill>
        <p:spPr>
          <a:xfrm>
            <a:off x="4063600" y="1011125"/>
            <a:ext cx="4946450" cy="3104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6" name="Google Shape;246;p30"/>
          <p:cNvCxnSpPr/>
          <p:nvPr/>
        </p:nvCxnSpPr>
        <p:spPr>
          <a:xfrm flipH="1">
            <a:off x="2883550" y="1458450"/>
            <a:ext cx="1235700" cy="8127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1"/>
          <p:cNvSpPr txBox="1"/>
          <p:nvPr>
            <p:ph type="title"/>
          </p:nvPr>
        </p:nvSpPr>
        <p:spPr>
          <a:xfrm>
            <a:off x="606225" y="385025"/>
            <a:ext cx="8382000" cy="62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Function in Python?</a:t>
            </a:r>
            <a:endParaRPr/>
          </a:p>
        </p:txBody>
      </p:sp>
      <p:sp>
        <p:nvSpPr>
          <p:cNvPr id="252" name="Google Shape;252;p31"/>
          <p:cNvSpPr txBox="1"/>
          <p:nvPr>
            <p:ph idx="1" type="body"/>
          </p:nvPr>
        </p:nvSpPr>
        <p:spPr>
          <a:xfrm>
            <a:off x="533400" y="1089250"/>
            <a:ext cx="8454900" cy="31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 function is a block of code which only runs when it is called.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" sz="1600"/>
              <a:t>T</a:t>
            </a:r>
            <a:r>
              <a:rPr lang="en" sz="1600"/>
              <a:t>wo types of functions:</a:t>
            </a:r>
            <a:endParaRPr sz="16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b="1" lang="en" sz="1400"/>
              <a:t>User-defined functions – </a:t>
            </a:r>
            <a:r>
              <a:rPr lang="en" sz="1400"/>
              <a:t>The user defines these functions to carry out a certain task.</a:t>
            </a:r>
            <a:endParaRPr sz="14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b="1" lang="en" sz="1400">
                <a:solidFill>
                  <a:schemeClr val="dk2"/>
                </a:solidFill>
              </a:rPr>
              <a:t>Built-in functions – </a:t>
            </a:r>
            <a:r>
              <a:rPr lang="en" sz="1400"/>
              <a:t>These Python functions are built-in functions.</a:t>
            </a:r>
            <a:endParaRPr sz="1400"/>
          </a:p>
        </p:txBody>
      </p:sp>
      <p:sp>
        <p:nvSpPr>
          <p:cNvPr id="253" name="Google Shape;253;p31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2"/>
          <p:cNvSpPr txBox="1"/>
          <p:nvPr>
            <p:ph type="title"/>
          </p:nvPr>
        </p:nvSpPr>
        <p:spPr>
          <a:xfrm>
            <a:off x="606225" y="385025"/>
            <a:ext cx="8382000" cy="62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 Structure</a:t>
            </a:r>
            <a:endParaRPr/>
          </a:p>
        </p:txBody>
      </p:sp>
      <p:sp>
        <p:nvSpPr>
          <p:cNvPr id="259" name="Google Shape;259;p32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300"/>
          </a:p>
        </p:txBody>
      </p:sp>
      <p:pic>
        <p:nvPicPr>
          <p:cNvPr id="260" name="Google Shape;260;p32"/>
          <p:cNvPicPr preferRelativeResize="0"/>
          <p:nvPr/>
        </p:nvPicPr>
        <p:blipFill rotWithShape="1">
          <a:blip r:embed="rId3">
            <a:alphaModFix/>
          </a:blip>
          <a:srcRect b="7629" l="0" r="0" t="0"/>
          <a:stretch/>
        </p:blipFill>
        <p:spPr>
          <a:xfrm>
            <a:off x="1019825" y="1719275"/>
            <a:ext cx="4961890" cy="257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2"/>
          <p:cNvSpPr txBox="1"/>
          <p:nvPr/>
        </p:nvSpPr>
        <p:spPr>
          <a:xfrm>
            <a:off x="0" y="4529050"/>
            <a:ext cx="8457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Source Sans Pro"/>
                <a:ea typeface="Source Sans Pro"/>
                <a:cs typeface="Source Sans Pro"/>
                <a:sym typeface="Source Sans Pro"/>
              </a:rPr>
              <a:t>A function can return data as a result</a:t>
            </a:r>
            <a:endParaRPr sz="220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62" name="Google Shape;262;p32"/>
          <p:cNvSpPr txBox="1"/>
          <p:nvPr/>
        </p:nvSpPr>
        <p:spPr>
          <a:xfrm>
            <a:off x="102675" y="1011125"/>
            <a:ext cx="938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You can pass data, known as parameters, into a function.</a:t>
            </a:r>
            <a:endParaRPr sz="22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263" name="Google Shape;263;p32"/>
          <p:cNvCxnSpPr/>
          <p:nvPr/>
        </p:nvCxnSpPr>
        <p:spPr>
          <a:xfrm>
            <a:off x="4312125" y="1429975"/>
            <a:ext cx="255000" cy="5322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" name="Google Shape;264;p32"/>
          <p:cNvCxnSpPr>
            <a:endCxn id="260" idx="2"/>
          </p:cNvCxnSpPr>
          <p:nvPr/>
        </p:nvCxnSpPr>
        <p:spPr>
          <a:xfrm rot="10800000">
            <a:off x="3500770" y="4297375"/>
            <a:ext cx="2208000" cy="336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3"/>
          <p:cNvSpPr txBox="1"/>
          <p:nvPr>
            <p:ph type="title"/>
          </p:nvPr>
        </p:nvSpPr>
        <p:spPr>
          <a:xfrm>
            <a:off x="453825" y="232625"/>
            <a:ext cx="8382000" cy="62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Built-in</a:t>
            </a:r>
            <a:r>
              <a:rPr lang="en"/>
              <a:t> functions: function</a:t>
            </a:r>
            <a:r>
              <a:rPr lang="en"/>
              <a:t> Call</a:t>
            </a:r>
            <a:endParaRPr/>
          </a:p>
        </p:txBody>
      </p:sp>
      <p:sp>
        <p:nvSpPr>
          <p:cNvPr id="270" name="Google Shape;270;p33"/>
          <p:cNvSpPr txBox="1"/>
          <p:nvPr/>
        </p:nvSpPr>
        <p:spPr>
          <a:xfrm>
            <a:off x="479375" y="2303600"/>
            <a:ext cx="3030600" cy="80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74E1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print(spam_amount)</a:t>
            </a:r>
            <a:endParaRPr sz="2400">
              <a:solidFill>
                <a:srgbClr val="274E13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271" name="Google Shape;271;p33"/>
          <p:cNvPicPr preferRelativeResize="0"/>
          <p:nvPr/>
        </p:nvPicPr>
        <p:blipFill rotWithShape="1">
          <a:blip r:embed="rId3">
            <a:alphaModFix/>
          </a:blip>
          <a:srcRect b="0" l="0" r="0" t="6672"/>
          <a:stretch/>
        </p:blipFill>
        <p:spPr>
          <a:xfrm>
            <a:off x="4063600" y="1011125"/>
            <a:ext cx="4946450" cy="3104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2" name="Google Shape;272;p33"/>
          <p:cNvCxnSpPr/>
          <p:nvPr/>
        </p:nvCxnSpPr>
        <p:spPr>
          <a:xfrm flipH="1">
            <a:off x="2883550" y="1458450"/>
            <a:ext cx="1235700" cy="8127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4"/>
          <p:cNvSpPr txBox="1"/>
          <p:nvPr>
            <p:ph type="title"/>
          </p:nvPr>
        </p:nvSpPr>
        <p:spPr>
          <a:xfrm>
            <a:off x="377625" y="385025"/>
            <a:ext cx="8382000" cy="62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User-defined functions</a:t>
            </a:r>
            <a:endParaRPr/>
          </a:p>
        </p:txBody>
      </p:sp>
      <p:sp>
        <p:nvSpPr>
          <p:cNvPr id="278" name="Google Shape;278;p34"/>
          <p:cNvSpPr txBox="1"/>
          <p:nvPr>
            <p:ph idx="1" type="body"/>
          </p:nvPr>
        </p:nvSpPr>
        <p:spPr>
          <a:xfrm>
            <a:off x="410625" y="1102675"/>
            <a:ext cx="4587900" cy="30561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# User-defined function with .split() method to count words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def count_words(sentence):</a:t>
            </a:r>
            <a:endParaRPr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words = sentence.split()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return len(words)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# Example usage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input_sentence = "Python is a versatile programming language."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word_count = count_words(input_sentence)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# Print the result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print("Number of words:", word_count)</a:t>
            </a:r>
            <a:endParaRPr/>
          </a:p>
        </p:txBody>
      </p:sp>
      <p:sp>
        <p:nvSpPr>
          <p:cNvPr id="279" name="Google Shape;279;p34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300"/>
          </a:p>
        </p:txBody>
      </p:sp>
      <p:sp>
        <p:nvSpPr>
          <p:cNvPr id="280" name="Google Shape;280;p34"/>
          <p:cNvSpPr txBox="1"/>
          <p:nvPr/>
        </p:nvSpPr>
        <p:spPr>
          <a:xfrm>
            <a:off x="5226600" y="1952625"/>
            <a:ext cx="3917400" cy="1046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Functions (Custom) operations that take one or more pieces of data as arguments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Methods: functions called directly off data using the “.” operator (ex: .split())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5"/>
          <p:cNvSpPr txBox="1"/>
          <p:nvPr>
            <p:ph type="title"/>
          </p:nvPr>
        </p:nvSpPr>
        <p:spPr>
          <a:xfrm>
            <a:off x="606225" y="385025"/>
            <a:ext cx="8382000" cy="62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 Call cont.</a:t>
            </a:r>
            <a:endParaRPr/>
          </a:p>
        </p:txBody>
      </p:sp>
      <p:sp>
        <p:nvSpPr>
          <p:cNvPr id="286" name="Google Shape;286;p35"/>
          <p:cNvSpPr txBox="1"/>
          <p:nvPr>
            <p:ph idx="1" type="body"/>
          </p:nvPr>
        </p:nvSpPr>
        <p:spPr>
          <a:xfrm>
            <a:off x="638675" y="1089250"/>
            <a:ext cx="5061600" cy="31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function must be defined before it is called.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 other words, the block of code that makes up the function must come before the block of code that makes use of the function.</a:t>
            </a:r>
            <a:endParaRPr/>
          </a:p>
        </p:txBody>
      </p:sp>
      <p:sp>
        <p:nvSpPr>
          <p:cNvPr id="287" name="Google Shape;287;p35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300"/>
          </a:p>
        </p:txBody>
      </p:sp>
      <p:pic>
        <p:nvPicPr>
          <p:cNvPr id="288" name="Google Shape;28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6825" y="111725"/>
            <a:ext cx="3687175" cy="24600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pic>
        <p:nvPicPr>
          <p:cNvPr id="289" name="Google Shape;28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25" y="2702159"/>
            <a:ext cx="9143998" cy="2316333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6"/>
          <p:cNvSpPr txBox="1"/>
          <p:nvPr>
            <p:ph type="title"/>
          </p:nvPr>
        </p:nvSpPr>
        <p:spPr>
          <a:xfrm>
            <a:off x="606225" y="385025"/>
            <a:ext cx="8382000" cy="62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omment</a:t>
            </a:r>
            <a:endParaRPr/>
          </a:p>
        </p:txBody>
      </p:sp>
      <p:sp>
        <p:nvSpPr>
          <p:cNvPr id="295" name="Google Shape;295;p36"/>
          <p:cNvSpPr txBox="1"/>
          <p:nvPr>
            <p:ph idx="1" type="body"/>
          </p:nvPr>
        </p:nvSpPr>
        <p:spPr>
          <a:xfrm>
            <a:off x="638675" y="1089250"/>
            <a:ext cx="7963500" cy="31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r>
              <a:rPr lang="en"/>
              <a:t>egin with the # symbol.</a:t>
            </a:r>
            <a:endParaRPr/>
          </a:p>
        </p:txBody>
      </p:sp>
      <p:sp>
        <p:nvSpPr>
          <p:cNvPr id="296" name="Google Shape;296;p36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300"/>
          </a:p>
        </p:txBody>
      </p:sp>
      <p:pic>
        <p:nvPicPr>
          <p:cNvPr id="297" name="Google Shape;297;p36"/>
          <p:cNvPicPr preferRelativeResize="0"/>
          <p:nvPr/>
        </p:nvPicPr>
        <p:blipFill rotWithShape="1">
          <a:blip r:embed="rId3">
            <a:alphaModFix/>
          </a:blip>
          <a:srcRect b="0" l="0" r="0" t="6672"/>
          <a:stretch/>
        </p:blipFill>
        <p:spPr>
          <a:xfrm>
            <a:off x="3775400" y="1719275"/>
            <a:ext cx="4946450" cy="3104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8" name="Google Shape;298;p36"/>
          <p:cNvCxnSpPr/>
          <p:nvPr/>
        </p:nvCxnSpPr>
        <p:spPr>
          <a:xfrm>
            <a:off x="2649350" y="1429975"/>
            <a:ext cx="1164000" cy="12417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9" name="Google Shape;299;p36"/>
          <p:cNvSpPr txBox="1"/>
          <p:nvPr>
            <p:ph type="title"/>
          </p:nvPr>
        </p:nvSpPr>
        <p:spPr>
          <a:xfrm>
            <a:off x="397950" y="3260650"/>
            <a:ext cx="2929200" cy="1294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FF00"/>
                </a:solidFill>
              </a:rPr>
              <a:t>Reassign </a:t>
            </a:r>
            <a:r>
              <a:rPr lang="en" sz="2100"/>
              <a:t>the value of an existing variable</a:t>
            </a:r>
            <a:endParaRPr sz="2100"/>
          </a:p>
        </p:txBody>
      </p:sp>
      <p:cxnSp>
        <p:nvCxnSpPr>
          <p:cNvPr id="300" name="Google Shape;300;p36"/>
          <p:cNvCxnSpPr/>
          <p:nvPr/>
        </p:nvCxnSpPr>
        <p:spPr>
          <a:xfrm flipH="1" rot="10800000">
            <a:off x="1296950" y="2937600"/>
            <a:ext cx="2494200" cy="6429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 txBox="1"/>
          <p:nvPr>
            <p:ph type="title"/>
          </p:nvPr>
        </p:nvSpPr>
        <p:spPr>
          <a:xfrm>
            <a:off x="606225" y="385025"/>
            <a:ext cx="8382000" cy="62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Data Structures</a:t>
            </a:r>
            <a:endParaRPr/>
          </a:p>
        </p:txBody>
      </p:sp>
      <p:sp>
        <p:nvSpPr>
          <p:cNvPr id="306" name="Google Shape;306;p37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300"/>
          </a:p>
        </p:txBody>
      </p:sp>
      <p:sp>
        <p:nvSpPr>
          <p:cNvPr id="307" name="Google Shape;307;p37"/>
          <p:cNvSpPr txBox="1"/>
          <p:nvPr/>
        </p:nvSpPr>
        <p:spPr>
          <a:xfrm>
            <a:off x="587550" y="1385013"/>
            <a:ext cx="7968900" cy="22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Lato"/>
              <a:buChar char="●"/>
            </a:pPr>
            <a:r>
              <a:rPr b="1" lang="en" sz="1700">
                <a:latin typeface="Lato"/>
                <a:ea typeface="Lato"/>
                <a:cs typeface="Lato"/>
                <a:sym typeface="Lato"/>
              </a:rPr>
              <a:t>Lists (ordered, mutable set of objects):</a:t>
            </a:r>
            <a:r>
              <a:rPr lang="en" sz="1700">
                <a:latin typeface="Lato"/>
                <a:ea typeface="Lato"/>
                <a:cs typeface="Lato"/>
                <a:sym typeface="Lato"/>
              </a:rPr>
              <a:t>                               </a:t>
            </a:r>
            <a:r>
              <a:rPr b="1" lang="en" sz="1700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var = ['one', 1, 1.0]</a:t>
            </a:r>
            <a:endParaRPr b="1" sz="1700">
              <a:solidFill>
                <a:srgbClr val="98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Lato"/>
              <a:buChar char="●"/>
            </a:pPr>
            <a:r>
              <a:rPr b="1" lang="en" sz="1700">
                <a:latin typeface="Lato"/>
                <a:ea typeface="Lato"/>
                <a:cs typeface="Lato"/>
                <a:sym typeface="Lato"/>
              </a:rPr>
              <a:t>Tuples (ordered, immutable set of objects): </a:t>
            </a:r>
            <a:r>
              <a:rPr b="1" lang="en" sz="1700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                    var = ('one', 1, 1.0)</a:t>
            </a:r>
            <a:endParaRPr b="1" sz="1700">
              <a:solidFill>
                <a:srgbClr val="98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Lato"/>
              <a:buChar char="●"/>
            </a:pPr>
            <a:r>
              <a:rPr b="1" lang="en" sz="1700">
                <a:latin typeface="Lato"/>
                <a:ea typeface="Lato"/>
                <a:cs typeface="Lato"/>
                <a:sym typeface="Lato"/>
              </a:rPr>
              <a:t>Dictionaries (Unordered lists of key-valued pairs):</a:t>
            </a:r>
            <a:r>
              <a:rPr lang="en" sz="1700">
                <a:latin typeface="Lato"/>
                <a:ea typeface="Lato"/>
                <a:cs typeface="Lato"/>
                <a:sym typeface="Lato"/>
              </a:rPr>
              <a:t>     </a:t>
            </a:r>
            <a:r>
              <a:rPr b="1" lang="en" sz="1700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var = {'one': 1, 'two': 2, 1: 'one', 2: 'two’}</a:t>
            </a:r>
            <a:endParaRPr b="1" sz="1700">
              <a:solidFill>
                <a:srgbClr val="98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Lato"/>
                <a:ea typeface="Lato"/>
                <a:cs typeface="Lato"/>
                <a:sym typeface="Lato"/>
              </a:rPr>
              <a:t>Each of the above has its own set of methods. E.g: Dictionaries methods are keys(), values(), items(), etc.</a:t>
            </a:r>
            <a:endParaRPr sz="17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8"/>
          <p:cNvSpPr txBox="1"/>
          <p:nvPr>
            <p:ph type="title"/>
          </p:nvPr>
        </p:nvSpPr>
        <p:spPr>
          <a:xfrm>
            <a:off x="606225" y="385025"/>
            <a:ext cx="8382000" cy="62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Examples: </a:t>
            </a:r>
            <a:r>
              <a:rPr lang="en"/>
              <a:t>Python Data Structures</a:t>
            </a:r>
            <a:endParaRPr/>
          </a:p>
        </p:txBody>
      </p:sp>
      <p:sp>
        <p:nvSpPr>
          <p:cNvPr id="313" name="Google Shape;313;p38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314" name="Google Shape;31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75" y="3699525"/>
            <a:ext cx="4586796" cy="9001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pic>
        <p:nvPicPr>
          <p:cNvPr id="315" name="Google Shape;31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575" y="1247349"/>
            <a:ext cx="4050125" cy="8320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pic>
        <p:nvPicPr>
          <p:cNvPr id="316" name="Google Shape;316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04200" y="1149019"/>
            <a:ext cx="4518325" cy="211065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9"/>
          <p:cNvSpPr txBox="1"/>
          <p:nvPr>
            <p:ph type="title"/>
          </p:nvPr>
        </p:nvSpPr>
        <p:spPr>
          <a:xfrm>
            <a:off x="270825" y="38450"/>
            <a:ext cx="8382000" cy="62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elements to a list</a:t>
            </a:r>
            <a:endParaRPr/>
          </a:p>
        </p:txBody>
      </p:sp>
      <p:sp>
        <p:nvSpPr>
          <p:cNvPr id="322" name="Google Shape;322;p39"/>
          <p:cNvSpPr txBox="1"/>
          <p:nvPr>
            <p:ph idx="1" type="body"/>
          </p:nvPr>
        </p:nvSpPr>
        <p:spPr>
          <a:xfrm>
            <a:off x="177725" y="633300"/>
            <a:ext cx="4933500" cy="31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"/>
              <a:t>U</a:t>
            </a:r>
            <a:r>
              <a:rPr b="1" lang="en"/>
              <a:t>se of an index</a:t>
            </a:r>
            <a:r>
              <a:rPr lang="en"/>
              <a:t> to replace a current element with a new one.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the </a:t>
            </a:r>
            <a:r>
              <a:rPr lang="en">
                <a:solidFill>
                  <a:srgbClr val="0000FF"/>
                </a:solidFill>
              </a:rPr>
              <a:t>insert()</a:t>
            </a:r>
            <a:r>
              <a:rPr lang="en"/>
              <a:t> function in order to add an element to a list at a specific indexed location, without overwriting any of the original elements.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9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300"/>
          </a:p>
        </p:txBody>
      </p:sp>
      <p:pic>
        <p:nvPicPr>
          <p:cNvPr id="324" name="Google Shape;32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121" y="1079275"/>
            <a:ext cx="4263598" cy="117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5" name="Google Shape;325;p39"/>
          <p:cNvSpPr txBox="1"/>
          <p:nvPr/>
        </p:nvSpPr>
        <p:spPr>
          <a:xfrm>
            <a:off x="107325" y="4402750"/>
            <a:ext cx="7875000" cy="831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Try: </a:t>
            </a:r>
            <a:r>
              <a:rPr lang="en"/>
              <a:t>Replace the second element in your string with the integer 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Try: Use insert() to put the integer 3 after the 2 that you just added to your string.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Try: </a:t>
            </a:r>
            <a:r>
              <a:rPr lang="en"/>
              <a:t>Use append() to add the string “end” as the last element in your list.</a:t>
            </a:r>
            <a:endParaRPr/>
          </a:p>
        </p:txBody>
      </p:sp>
      <p:pic>
        <p:nvPicPr>
          <p:cNvPr id="326" name="Google Shape;326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125" y="3336700"/>
            <a:ext cx="4781174" cy="10660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7" name="Google Shape;327;p39"/>
          <p:cNvSpPr txBox="1"/>
          <p:nvPr/>
        </p:nvSpPr>
        <p:spPr>
          <a:xfrm>
            <a:off x="5272300" y="1086675"/>
            <a:ext cx="3528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</a:t>
            </a:r>
            <a:r>
              <a:rPr lang="en"/>
              <a:t>dd an element to the end of a list using the </a:t>
            </a:r>
            <a:r>
              <a:rPr lang="en">
                <a:solidFill>
                  <a:srgbClr val="0000FF"/>
                </a:solidFill>
              </a:rPr>
              <a:t>append() function</a:t>
            </a:r>
            <a:endParaRPr>
              <a:solidFill>
                <a:srgbClr val="0000FF"/>
              </a:solidFill>
            </a:endParaRPr>
          </a:p>
        </p:txBody>
      </p:sp>
      <p:pic>
        <p:nvPicPr>
          <p:cNvPr id="328" name="Google Shape;328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72300" y="1777825"/>
            <a:ext cx="4024102" cy="10660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0"/>
          <p:cNvSpPr txBox="1"/>
          <p:nvPr>
            <p:ph type="title"/>
          </p:nvPr>
        </p:nvSpPr>
        <p:spPr>
          <a:xfrm>
            <a:off x="270825" y="38450"/>
            <a:ext cx="8382000" cy="62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Removing elements from a list</a:t>
            </a:r>
            <a:endParaRPr/>
          </a:p>
        </p:txBody>
      </p:sp>
      <p:sp>
        <p:nvSpPr>
          <p:cNvPr id="334" name="Google Shape;334;p40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35" name="Google Shape;335;p40"/>
          <p:cNvSpPr txBox="1"/>
          <p:nvPr/>
        </p:nvSpPr>
        <p:spPr>
          <a:xfrm>
            <a:off x="130500" y="4657650"/>
            <a:ext cx="78750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Try: </a:t>
            </a:r>
            <a:r>
              <a:rPr lang="en"/>
              <a:t>Use del to remove the 3 that you added to the list earlier.</a:t>
            </a:r>
            <a:endParaRPr/>
          </a:p>
        </p:txBody>
      </p:sp>
      <p:pic>
        <p:nvPicPr>
          <p:cNvPr id="336" name="Google Shape;33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114" y="1657223"/>
            <a:ext cx="7675386" cy="1145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7" name="Google Shape;337;p40"/>
          <p:cNvSpPr txBox="1"/>
          <p:nvPr/>
        </p:nvSpPr>
        <p:spPr>
          <a:xfrm>
            <a:off x="251325" y="755400"/>
            <a:ext cx="81030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remove an element using  </a:t>
            </a:r>
            <a:r>
              <a:rPr lang="en">
                <a:solidFill>
                  <a:srgbClr val="0000FF"/>
                </a:solidFill>
              </a:rPr>
              <a:t>remove()</a:t>
            </a:r>
            <a:r>
              <a:rPr lang="en"/>
              <a:t>  from a list based upon the element value.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Remember: If there is more than one element with this value, </a:t>
            </a:r>
            <a:r>
              <a:rPr b="1" lang="en"/>
              <a:t>only the first occurrence</a:t>
            </a:r>
            <a:r>
              <a:rPr lang="en"/>
              <a:t> will be removed.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Also remove elements by their index using the </a:t>
            </a:r>
            <a:r>
              <a:rPr b="1" lang="en"/>
              <a:t>del function.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8" name="Google Shape;338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125" y="3210600"/>
            <a:ext cx="7675377" cy="13708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1"/>
          <p:cNvSpPr txBox="1"/>
          <p:nvPr>
            <p:ph type="title"/>
          </p:nvPr>
        </p:nvSpPr>
        <p:spPr>
          <a:xfrm>
            <a:off x="606225" y="385025"/>
            <a:ext cx="8382000" cy="62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Indexing</a:t>
            </a:r>
            <a:endParaRPr/>
          </a:p>
        </p:txBody>
      </p:sp>
      <p:sp>
        <p:nvSpPr>
          <p:cNvPr id="344" name="Google Shape;344;p41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300"/>
          </a:p>
        </p:txBody>
      </p:sp>
      <p:sp>
        <p:nvSpPr>
          <p:cNvPr id="345" name="Google Shape;345;p41"/>
          <p:cNvSpPr txBox="1"/>
          <p:nvPr/>
        </p:nvSpPr>
        <p:spPr>
          <a:xfrm>
            <a:off x="540600" y="1274475"/>
            <a:ext cx="80628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Indexing in Python is 0-based, meaning that the first element in a string, list, array, etc, has an index of 0. The second element then has an index of 1, and so on.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You can cycle backwards through a list, string, array, etc, by placing a minus symbol in front of the index location.</a:t>
            </a:r>
            <a:endParaRPr/>
          </a:p>
        </p:txBody>
      </p:sp>
      <p:pic>
        <p:nvPicPr>
          <p:cNvPr id="346" name="Google Shape;34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4375" y="2131275"/>
            <a:ext cx="6475249" cy="75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2700" y="3684450"/>
            <a:ext cx="6752175" cy="75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2"/>
          <p:cNvSpPr txBox="1"/>
          <p:nvPr>
            <p:ph type="title"/>
          </p:nvPr>
        </p:nvSpPr>
        <p:spPr>
          <a:xfrm>
            <a:off x="606225" y="385025"/>
            <a:ext cx="8382000" cy="62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Slicing</a:t>
            </a:r>
            <a:endParaRPr/>
          </a:p>
        </p:txBody>
      </p:sp>
      <p:sp>
        <p:nvSpPr>
          <p:cNvPr id="353" name="Google Shape;353;p42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300"/>
          </a:p>
        </p:txBody>
      </p:sp>
      <p:sp>
        <p:nvSpPr>
          <p:cNvPr id="354" name="Google Shape;354;p42"/>
          <p:cNvSpPr txBox="1"/>
          <p:nvPr/>
        </p:nvSpPr>
        <p:spPr>
          <a:xfrm>
            <a:off x="550050" y="1153725"/>
            <a:ext cx="8049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In Python, slicing is a way to </a:t>
            </a:r>
            <a:r>
              <a:rPr b="1" lang="en" sz="1500"/>
              <a:t>extract a portion of a sequence</a:t>
            </a:r>
            <a:r>
              <a:rPr lang="en" sz="1500"/>
              <a:t> (like a list, tuple, or string).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syntax: </a:t>
            </a:r>
            <a:r>
              <a:rPr b="1" lang="en" sz="1500"/>
              <a:t>start:stop:step.</a:t>
            </a:r>
            <a:r>
              <a:rPr lang="en" sz="1500"/>
              <a:t>  Step is optional; If step is not specified, it defaults to 1</a:t>
            </a:r>
            <a:endParaRPr sz="1500"/>
          </a:p>
        </p:txBody>
      </p:sp>
      <p:sp>
        <p:nvSpPr>
          <p:cNvPr id="355" name="Google Shape;355;p42"/>
          <p:cNvSpPr txBox="1"/>
          <p:nvPr/>
        </p:nvSpPr>
        <p:spPr>
          <a:xfrm>
            <a:off x="550050" y="1905000"/>
            <a:ext cx="4804200" cy="29676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Lato"/>
                <a:ea typeface="Lato"/>
                <a:cs typeface="Lato"/>
                <a:sym typeface="Lato"/>
              </a:rPr>
              <a:t>my_list = [1, 2, 3, 4, 5, 6, 7, 8, 9, 10]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Lato"/>
                <a:ea typeface="Lato"/>
                <a:cs typeface="Lato"/>
                <a:sym typeface="Lato"/>
              </a:rPr>
              <a:t># Using slicing to get elements from index 4 to the end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Lato"/>
                <a:ea typeface="Lato"/>
                <a:cs typeface="Lato"/>
                <a:sym typeface="Lato"/>
              </a:rPr>
              <a:t>subset_list = </a:t>
            </a:r>
            <a:r>
              <a:rPr lang="en" sz="1300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my_list[4:]</a:t>
            </a:r>
            <a:endParaRPr sz="1300">
              <a:solidFill>
                <a:srgbClr val="98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Lato"/>
                <a:ea typeface="Lato"/>
                <a:cs typeface="Lato"/>
                <a:sym typeface="Lato"/>
              </a:rPr>
              <a:t># Print the result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Lato"/>
                <a:ea typeface="Lato"/>
                <a:cs typeface="Lato"/>
                <a:sym typeface="Lato"/>
              </a:rPr>
              <a:t>print(subset_list)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Lato"/>
                <a:ea typeface="Lato"/>
                <a:cs typeface="Lato"/>
                <a:sym typeface="Lato"/>
              </a:rPr>
              <a:t># Using slicing to get elements from the beginning up to (, but not including) index 4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Lato"/>
                <a:ea typeface="Lato"/>
                <a:cs typeface="Lato"/>
                <a:sym typeface="Lato"/>
              </a:rPr>
              <a:t>subset_list = </a:t>
            </a:r>
            <a:r>
              <a:rPr lang="en" sz="1300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my_list[:4]</a:t>
            </a:r>
            <a:endParaRPr sz="1300">
              <a:solidFill>
                <a:srgbClr val="98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Lato"/>
                <a:ea typeface="Lato"/>
                <a:cs typeface="Lato"/>
                <a:sym typeface="Lato"/>
              </a:rPr>
              <a:t># Print the result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Lato"/>
                <a:ea typeface="Lato"/>
                <a:cs typeface="Lato"/>
                <a:sym typeface="Lato"/>
              </a:rPr>
              <a:t>print(subset_list)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6" name="Google Shape;356;p42"/>
          <p:cNvSpPr txBox="1"/>
          <p:nvPr/>
        </p:nvSpPr>
        <p:spPr>
          <a:xfrm>
            <a:off x="5505825" y="3069938"/>
            <a:ext cx="3000000" cy="400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Output: [5, 6, 7, 8, 9, 10]</a:t>
            </a:r>
            <a:endParaRPr/>
          </a:p>
        </p:txBody>
      </p:sp>
      <p:sp>
        <p:nvSpPr>
          <p:cNvPr id="357" name="Google Shape;357;p42"/>
          <p:cNvSpPr txBox="1"/>
          <p:nvPr/>
        </p:nvSpPr>
        <p:spPr>
          <a:xfrm>
            <a:off x="5505825" y="3893950"/>
            <a:ext cx="3000000" cy="785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Lato"/>
                <a:ea typeface="Lato"/>
                <a:cs typeface="Lato"/>
                <a:sym typeface="Lato"/>
              </a:rPr>
              <a:t>Output: </a:t>
            </a:r>
            <a:r>
              <a:rPr lang="en" sz="1300">
                <a:latin typeface="Lato"/>
                <a:ea typeface="Lato"/>
                <a:cs typeface="Lato"/>
                <a:sym typeface="Lato"/>
              </a:rPr>
              <a:t>[1, 2, 3, 4] 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300">
                <a:latin typeface="Lato"/>
                <a:ea typeface="Lato"/>
                <a:cs typeface="Lato"/>
                <a:sym typeface="Lato"/>
              </a:rPr>
              <a:t>U</a:t>
            </a:r>
            <a:r>
              <a:rPr b="1" i="1" lang="en" sz="1300">
                <a:latin typeface="Lato"/>
                <a:ea typeface="Lato"/>
                <a:cs typeface="Lato"/>
                <a:sym typeface="Lato"/>
              </a:rPr>
              <a:t>p to (but not including) the element at index 4</a:t>
            </a:r>
            <a:endParaRPr b="1" i="1" sz="1300"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58" name="Google Shape;358;p42"/>
          <p:cNvCxnSpPr>
            <a:endCxn id="356" idx="1"/>
          </p:cNvCxnSpPr>
          <p:nvPr/>
        </p:nvCxnSpPr>
        <p:spPr>
          <a:xfrm flipH="1" rot="10800000">
            <a:off x="1972125" y="3270038"/>
            <a:ext cx="3533700" cy="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9" name="Google Shape;359;p42"/>
          <p:cNvCxnSpPr/>
          <p:nvPr/>
        </p:nvCxnSpPr>
        <p:spPr>
          <a:xfrm flipH="1" rot="10800000">
            <a:off x="1972125" y="4260638"/>
            <a:ext cx="3533700" cy="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3"/>
          <p:cNvSpPr txBox="1"/>
          <p:nvPr>
            <p:ph type="title"/>
          </p:nvPr>
        </p:nvSpPr>
        <p:spPr>
          <a:xfrm>
            <a:off x="606225" y="385025"/>
            <a:ext cx="8382000" cy="62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Try: </a:t>
            </a:r>
            <a:r>
              <a:rPr lang="en"/>
              <a:t>Slicing</a:t>
            </a:r>
            <a:endParaRPr/>
          </a:p>
        </p:txBody>
      </p:sp>
      <p:sp>
        <p:nvSpPr>
          <p:cNvPr id="365" name="Google Shape;365;p43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66" name="Google Shape;366;p43"/>
          <p:cNvSpPr txBox="1"/>
          <p:nvPr/>
        </p:nvSpPr>
        <p:spPr>
          <a:xfrm>
            <a:off x="550050" y="1153725"/>
            <a:ext cx="8049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Create a string that is 10 characters in length.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Print the second character to the screen.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Print the third to last character to the screen.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Print all characters after the fourth character.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Print characters 2-8.</a:t>
            </a:r>
            <a:endParaRPr sz="1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4"/>
          <p:cNvSpPr txBox="1"/>
          <p:nvPr>
            <p:ph type="title"/>
          </p:nvPr>
        </p:nvSpPr>
        <p:spPr>
          <a:xfrm>
            <a:off x="606225" y="385025"/>
            <a:ext cx="8382000" cy="62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For and While Loops</a:t>
            </a:r>
            <a:endParaRPr/>
          </a:p>
        </p:txBody>
      </p:sp>
      <p:sp>
        <p:nvSpPr>
          <p:cNvPr id="372" name="Google Shape;372;p44"/>
          <p:cNvSpPr txBox="1"/>
          <p:nvPr>
            <p:ph idx="1" type="body"/>
          </p:nvPr>
        </p:nvSpPr>
        <p:spPr>
          <a:xfrm>
            <a:off x="517925" y="1102650"/>
            <a:ext cx="4231200" cy="4041000"/>
          </a:xfrm>
          <a:prstGeom prst="rect">
            <a:avLst/>
          </a:prstGeom>
          <a:solidFill>
            <a:srgbClr val="FCE5CD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80000"/>
                </a:solidFill>
              </a:rPr>
              <a:t>The for loop</a:t>
            </a:r>
            <a:r>
              <a:rPr lang="en" sz="1500"/>
              <a:t> is used to </a:t>
            </a:r>
            <a:r>
              <a:rPr b="1" lang="en" sz="1500"/>
              <a:t>iterate over elements in a sequence</a:t>
            </a:r>
            <a:r>
              <a:rPr lang="en" sz="1500"/>
              <a:t>, and is often used when you have a piece of code that you want to repeat a number of times.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For loops essentially say:</a:t>
            </a:r>
            <a:br>
              <a:rPr lang="en" sz="1500"/>
            </a:br>
            <a:r>
              <a:rPr b="1" lang="en" sz="1500"/>
              <a:t>“For all elements in a sequence, do something”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73" name="Google Shape;373;p44"/>
          <p:cNvSpPr txBox="1"/>
          <p:nvPr>
            <p:ph idx="12" type="sldNum"/>
          </p:nvPr>
        </p:nvSpPr>
        <p:spPr>
          <a:xfrm>
            <a:off x="7958034" y="49361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300"/>
          </a:p>
        </p:txBody>
      </p:sp>
      <p:pic>
        <p:nvPicPr>
          <p:cNvPr id="374" name="Google Shape;37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225" y="2924575"/>
            <a:ext cx="4075774" cy="789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pic>
        <p:nvPicPr>
          <p:cNvPr id="375" name="Google Shape;375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675" y="3957501"/>
            <a:ext cx="3533525" cy="106632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sp>
        <p:nvSpPr>
          <p:cNvPr id="376" name="Google Shape;376;p44"/>
          <p:cNvSpPr txBox="1"/>
          <p:nvPr/>
        </p:nvSpPr>
        <p:spPr>
          <a:xfrm>
            <a:off x="4805625" y="1102650"/>
            <a:ext cx="4231200" cy="3765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The while loop</a:t>
            </a:r>
            <a:r>
              <a:rPr lang="en" sz="1500">
                <a:latin typeface="Lato"/>
                <a:ea typeface="Lato"/>
                <a:cs typeface="Lato"/>
                <a:sym typeface="Lato"/>
              </a:rPr>
              <a:t> tells the computer to do something as long as a specific condition is met.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latin typeface="Lato"/>
                <a:ea typeface="Lato"/>
                <a:cs typeface="Lato"/>
                <a:sym typeface="Lato"/>
              </a:rPr>
              <a:t>It essentially says:</a:t>
            </a:r>
            <a:br>
              <a:rPr lang="en" sz="1500">
                <a:latin typeface="Lato"/>
                <a:ea typeface="Lato"/>
                <a:cs typeface="Lato"/>
                <a:sym typeface="Lato"/>
              </a:rPr>
            </a:br>
            <a:r>
              <a:rPr lang="en" sz="1500"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n" sz="1500">
                <a:latin typeface="Lato"/>
                <a:ea typeface="Lato"/>
                <a:cs typeface="Lato"/>
                <a:sym typeface="Lato"/>
              </a:rPr>
              <a:t>  </a:t>
            </a:r>
            <a:r>
              <a:rPr b="1" i="1" lang="en" sz="1500">
                <a:latin typeface="Lato"/>
                <a:ea typeface="Lato"/>
                <a:cs typeface="Lato"/>
                <a:sym typeface="Lato"/>
              </a:rPr>
              <a:t>“while this is true, do this.”</a:t>
            </a:r>
            <a:endParaRPr b="1" i="1"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i="1"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i="1"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i="1"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i="1"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i="1"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i="1"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i="1" sz="15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77" name="Google Shape;377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61050" y="2520250"/>
            <a:ext cx="4075776" cy="106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43468" y="3714275"/>
            <a:ext cx="1687481" cy="78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5"/>
          <p:cNvSpPr txBox="1"/>
          <p:nvPr>
            <p:ph type="title"/>
          </p:nvPr>
        </p:nvSpPr>
        <p:spPr>
          <a:xfrm>
            <a:off x="381000" y="89900"/>
            <a:ext cx="8382000" cy="62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r>
              <a:rPr lang="en"/>
              <a:t>unctions: </a:t>
            </a:r>
            <a:r>
              <a:rPr lang="en"/>
              <a:t>range() </a:t>
            </a:r>
            <a:endParaRPr/>
          </a:p>
        </p:txBody>
      </p:sp>
      <p:sp>
        <p:nvSpPr>
          <p:cNvPr id="384" name="Google Shape;384;p45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300"/>
          </a:p>
        </p:txBody>
      </p:sp>
      <p:sp>
        <p:nvSpPr>
          <p:cNvPr id="385" name="Google Shape;385;p45"/>
          <p:cNvSpPr txBox="1"/>
          <p:nvPr/>
        </p:nvSpPr>
        <p:spPr>
          <a:xfrm>
            <a:off x="381000" y="720625"/>
            <a:ext cx="8822100" cy="30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The range() function generates a list of numbers, which is generally </a:t>
            </a:r>
            <a:r>
              <a:rPr b="1" lang="en">
                <a:latin typeface="Lato"/>
                <a:ea typeface="Lato"/>
                <a:cs typeface="Lato"/>
                <a:sym typeface="Lato"/>
              </a:rPr>
              <a:t>used to iterate over within for loops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6" name="Google Shape;386;p45"/>
          <p:cNvSpPr txBox="1"/>
          <p:nvPr/>
        </p:nvSpPr>
        <p:spPr>
          <a:xfrm>
            <a:off x="3331875" y="975550"/>
            <a:ext cx="5656200" cy="30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Lato"/>
                <a:ea typeface="Lato"/>
                <a:cs typeface="Lato"/>
                <a:sym typeface="Lato"/>
              </a:rPr>
              <a:t>Syntax: </a:t>
            </a:r>
            <a:r>
              <a:rPr b="1" lang="en" sz="1300">
                <a:latin typeface="Lato"/>
                <a:ea typeface="Lato"/>
                <a:cs typeface="Lato"/>
                <a:sym typeface="Lato"/>
              </a:rPr>
              <a:t>range([start], [stop], step)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●"/>
            </a:pPr>
            <a:r>
              <a:rPr lang="en" sz="1300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start:</a:t>
            </a:r>
            <a:r>
              <a:rPr lang="en" sz="1300">
                <a:latin typeface="Lato"/>
                <a:ea typeface="Lato"/>
                <a:cs typeface="Lato"/>
                <a:sym typeface="Lato"/>
              </a:rPr>
              <a:t> Starting number of the sequence.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●"/>
            </a:pPr>
            <a:r>
              <a:rPr lang="en" sz="1300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stop:</a:t>
            </a:r>
            <a:r>
              <a:rPr lang="en" sz="1300">
                <a:latin typeface="Lato"/>
                <a:ea typeface="Lato"/>
                <a:cs typeface="Lato"/>
                <a:sym typeface="Lato"/>
              </a:rPr>
              <a:t> Generate numbers up to, but not including this number.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SzPts val="1300"/>
              <a:buFont typeface="Lato"/>
              <a:buChar char="●"/>
            </a:pPr>
            <a:r>
              <a:rPr lang="en" sz="1300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step: </a:t>
            </a:r>
            <a:r>
              <a:rPr lang="en" sz="1300">
                <a:latin typeface="Lato"/>
                <a:ea typeface="Lato"/>
                <a:cs typeface="Lato"/>
                <a:sym typeface="Lato"/>
              </a:rPr>
              <a:t>Difference between each number in the sequence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87" name="Google Shape;38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775" y="2065225"/>
            <a:ext cx="2248525" cy="19691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sp>
        <p:nvSpPr>
          <p:cNvPr id="388" name="Google Shape;388;p45"/>
          <p:cNvSpPr txBox="1"/>
          <p:nvPr/>
        </p:nvSpPr>
        <p:spPr>
          <a:xfrm>
            <a:off x="407575" y="995425"/>
            <a:ext cx="26511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Lato"/>
                <a:ea typeface="Lato"/>
                <a:cs typeface="Lato"/>
                <a:sym typeface="Lato"/>
              </a:rPr>
              <a:t>Syntax: range(stop) </a:t>
            </a:r>
            <a:endParaRPr b="1"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980000"/>
                </a:solidFill>
                <a:latin typeface="Lato"/>
                <a:ea typeface="Lato"/>
                <a:cs typeface="Lato"/>
                <a:sym typeface="Lato"/>
              </a:rPr>
              <a:t>stop: </a:t>
            </a:r>
            <a:r>
              <a:rPr lang="en" sz="1300">
                <a:latin typeface="Lato"/>
                <a:ea typeface="Lato"/>
                <a:cs typeface="Lato"/>
                <a:sym typeface="Lato"/>
              </a:rPr>
              <a:t>Number of integers  (whole numbers) to generate, starting from 0.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89" name="Google Shape;389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1725" y="2065225"/>
            <a:ext cx="2551000" cy="11679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pic>
        <p:nvPicPr>
          <p:cNvPr id="390" name="Google Shape;390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8100" y="2010738"/>
            <a:ext cx="2404875" cy="12769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pic>
      <p:sp>
        <p:nvSpPr>
          <p:cNvPr id="391" name="Google Shape;391;p45"/>
          <p:cNvSpPr txBox="1"/>
          <p:nvPr/>
        </p:nvSpPr>
        <p:spPr>
          <a:xfrm>
            <a:off x="2954776" y="3234900"/>
            <a:ext cx="50676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rgbClr val="E42524"/>
                </a:solidFill>
              </a:rPr>
              <a:t>Note:</a:t>
            </a:r>
            <a:endParaRPr b="1" sz="1500" u="sng">
              <a:solidFill>
                <a:srgbClr val="E42524"/>
              </a:solidFill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All parameters </a:t>
            </a:r>
            <a:r>
              <a:rPr b="1" lang="en"/>
              <a:t>must be integers</a:t>
            </a:r>
            <a:r>
              <a:rPr lang="en"/>
              <a:t> (can be positive or negative).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range() function (and Python in general) is </a:t>
            </a:r>
            <a:r>
              <a:rPr b="1" lang="en"/>
              <a:t>0-index </a:t>
            </a:r>
            <a:r>
              <a:rPr lang="en"/>
              <a:t>based (list indexes start at 0, not 1). </a:t>
            </a:r>
            <a:endParaRPr/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Eg. mylist[0] = </a:t>
            </a:r>
            <a:r>
              <a:rPr b="1" lang="en"/>
              <a:t>the first element of a list</a:t>
            </a:r>
            <a:r>
              <a:rPr b="1" lang="en"/>
              <a:t>.</a:t>
            </a:r>
            <a:r>
              <a:rPr lang="en"/>
              <a:t> Therefore the </a:t>
            </a:r>
            <a:r>
              <a:rPr b="1" lang="en"/>
              <a:t>last integer</a:t>
            </a:r>
            <a:r>
              <a:rPr lang="en"/>
              <a:t> generated by range() is up to, but </a:t>
            </a:r>
            <a:r>
              <a:rPr b="1" lang="en"/>
              <a:t>not including, stop.</a:t>
            </a:r>
            <a:endParaRPr b="1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6"/>
          <p:cNvSpPr txBox="1"/>
          <p:nvPr>
            <p:ph type="title"/>
          </p:nvPr>
        </p:nvSpPr>
        <p:spPr>
          <a:xfrm>
            <a:off x="606225" y="385025"/>
            <a:ext cx="8382000" cy="62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Functions: break. </a:t>
            </a:r>
            <a:r>
              <a:rPr lang="en"/>
              <a:t>continue</a:t>
            </a:r>
            <a:endParaRPr/>
          </a:p>
        </p:txBody>
      </p:sp>
      <p:sp>
        <p:nvSpPr>
          <p:cNvPr id="397" name="Google Shape;397;p46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98" name="Google Shape;398;p46"/>
          <p:cNvSpPr txBox="1"/>
          <p:nvPr/>
        </p:nvSpPr>
        <p:spPr>
          <a:xfrm>
            <a:off x="474400" y="1113475"/>
            <a:ext cx="3434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break() function: </a:t>
            </a:r>
            <a:r>
              <a:rPr lang="en"/>
              <a:t>terminate a loop sd it breaks out of the innermost enclosing for or while loop.</a:t>
            </a:r>
            <a:endParaRPr/>
          </a:p>
        </p:txBody>
      </p:sp>
      <p:pic>
        <p:nvPicPr>
          <p:cNvPr id="399" name="Google Shape;39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226" y="2047125"/>
            <a:ext cx="3320025" cy="306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46"/>
          <p:cNvSpPr txBox="1"/>
          <p:nvPr/>
        </p:nvSpPr>
        <p:spPr>
          <a:xfrm>
            <a:off x="4819025" y="1143850"/>
            <a:ext cx="3914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continue() statement is used to tell Python to </a:t>
            </a:r>
            <a:r>
              <a:rPr b="1" lang="en"/>
              <a:t>skip the rest of the statements in the current loop block,</a:t>
            </a:r>
            <a:r>
              <a:rPr lang="en"/>
              <a:t> and then to </a:t>
            </a:r>
            <a:r>
              <a:rPr b="1" lang="en"/>
              <a:t>continue</a:t>
            </a:r>
            <a:r>
              <a:rPr lang="en"/>
              <a:t> to the </a:t>
            </a:r>
            <a:r>
              <a:rPr b="1" lang="en"/>
              <a:t>next iteration</a:t>
            </a:r>
            <a:r>
              <a:rPr lang="en"/>
              <a:t> of the loop</a:t>
            </a:r>
            <a:endParaRPr/>
          </a:p>
        </p:txBody>
      </p:sp>
      <p:pic>
        <p:nvPicPr>
          <p:cNvPr id="401" name="Google Shape;401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2876" y="2323275"/>
            <a:ext cx="2359442" cy="264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22">
                <a:solidFill>
                  <a:srgbClr val="980000"/>
                </a:solidFill>
              </a:rPr>
              <a:t>Nested loops</a:t>
            </a:r>
            <a:endParaRPr sz="2822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47"/>
          <p:cNvSpPr txBox="1"/>
          <p:nvPr>
            <p:ph idx="1" type="body"/>
          </p:nvPr>
        </p:nvSpPr>
        <p:spPr>
          <a:xfrm>
            <a:off x="729450" y="1697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some situations, you may want a loop within a loop; this is known as a nested loop.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4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09" name="Google Shape;40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4812" y="2028550"/>
            <a:ext cx="4354381" cy="311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8"/>
          <p:cNvSpPr txBox="1"/>
          <p:nvPr>
            <p:ph type="title"/>
          </p:nvPr>
        </p:nvSpPr>
        <p:spPr>
          <a:xfrm>
            <a:off x="149025" y="308825"/>
            <a:ext cx="8839500" cy="62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Condition: If-</a:t>
            </a:r>
            <a:r>
              <a:rPr lang="en"/>
              <a:t>E</a:t>
            </a:r>
            <a:r>
              <a:rPr lang="en"/>
              <a:t>lif-Else Statement</a:t>
            </a:r>
            <a:endParaRPr/>
          </a:p>
        </p:txBody>
      </p:sp>
      <p:sp>
        <p:nvSpPr>
          <p:cNvPr id="415" name="Google Shape;415;p48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300"/>
          </a:p>
        </p:txBody>
      </p:sp>
      <p:pic>
        <p:nvPicPr>
          <p:cNvPr id="416" name="Google Shape;41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00" y="1089250"/>
            <a:ext cx="4633350" cy="382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48"/>
          <p:cNvPicPr preferRelativeResize="0"/>
          <p:nvPr/>
        </p:nvPicPr>
        <p:blipFill rotWithShape="1">
          <a:blip r:embed="rId4">
            <a:alphaModFix/>
          </a:blip>
          <a:srcRect b="0" l="0" r="0" t="6672"/>
          <a:stretch/>
        </p:blipFill>
        <p:spPr>
          <a:xfrm>
            <a:off x="5113825" y="1891075"/>
            <a:ext cx="3953974" cy="24817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8" name="Google Shape;418;p48"/>
          <p:cNvCxnSpPr>
            <a:stCxn id="417" idx="1"/>
          </p:cNvCxnSpPr>
          <p:nvPr/>
        </p:nvCxnSpPr>
        <p:spPr>
          <a:xfrm rot="10800000">
            <a:off x="2783425" y="1217650"/>
            <a:ext cx="2330400" cy="19143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9" name="Google Shape;419;p48"/>
          <p:cNvSpPr txBox="1"/>
          <p:nvPr/>
        </p:nvSpPr>
        <p:spPr>
          <a:xfrm>
            <a:off x="5113825" y="934925"/>
            <a:ext cx="3874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three main conditional statements in Python; if, else, elif.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9"/>
          <p:cNvSpPr txBox="1"/>
          <p:nvPr>
            <p:ph type="title"/>
          </p:nvPr>
        </p:nvSpPr>
        <p:spPr>
          <a:xfrm>
            <a:off x="225225" y="232625"/>
            <a:ext cx="8382000" cy="62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If-Elif-Else Statement</a:t>
            </a:r>
            <a:endParaRPr/>
          </a:p>
        </p:txBody>
      </p:sp>
      <p:sp>
        <p:nvSpPr>
          <p:cNvPr id="425" name="Google Shape;425;p49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300"/>
          </a:p>
        </p:txBody>
      </p:sp>
      <p:pic>
        <p:nvPicPr>
          <p:cNvPr id="426" name="Google Shape;42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500" y="1014775"/>
            <a:ext cx="4060074" cy="33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49"/>
          <p:cNvSpPr txBox="1"/>
          <p:nvPr/>
        </p:nvSpPr>
        <p:spPr>
          <a:xfrm>
            <a:off x="5037150" y="232625"/>
            <a:ext cx="4277400" cy="4743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Imagine, you need to write a python program to decipher messages from friendly aliens. You want to decode an alien's mood based on the number of eyes and tentacles it has. </a:t>
            </a:r>
            <a:endParaRPr sz="16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ource Sans Pro"/>
              <a:buChar char="❏"/>
            </a:pPr>
            <a:r>
              <a:rPr b="1" lang="en" sz="16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If the alien has 3 eyes and up to 5 tentacles, it's curious and friendly. </a:t>
            </a:r>
            <a:endParaRPr b="1" sz="16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ource Sans Pro"/>
              <a:buChar char="❏"/>
            </a:pPr>
            <a:r>
              <a:rPr b="1" lang="en" sz="16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If the alien has more than 3 eyes and more than 5 tentacles, it might be grumpy. </a:t>
            </a:r>
            <a:endParaRPr b="1" sz="16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ource Sans Pro"/>
              <a:buChar char="❏"/>
            </a:pPr>
            <a:r>
              <a:rPr b="1" lang="en" sz="16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But if the alien has 2 or fewer eyes or no tentacles, it seems shy or possibly invisible. </a:t>
            </a:r>
            <a:endParaRPr b="1" sz="16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ource Sans Pro"/>
              <a:buChar char="❏"/>
            </a:pPr>
            <a:r>
              <a:rPr b="1" lang="en" sz="16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For other cases, the mood is uncertain, and it's an alien mystery.</a:t>
            </a:r>
            <a:endParaRPr b="1" sz="16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Task:</a:t>
            </a:r>
            <a:r>
              <a:rPr lang="en" sz="1600">
                <a:solidFill>
                  <a:schemeClr val="lt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Write down the code using if-elif-else conditions to accomplish this alien mood decoding task</a:t>
            </a:r>
            <a:endParaRPr sz="16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900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0"/>
          <p:cNvSpPr txBox="1"/>
          <p:nvPr>
            <p:ph type="title"/>
          </p:nvPr>
        </p:nvSpPr>
        <p:spPr>
          <a:xfrm>
            <a:off x="498900" y="2258700"/>
            <a:ext cx="8382000" cy="62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Reading Slides</a:t>
            </a:r>
            <a:endParaRPr/>
          </a:p>
        </p:txBody>
      </p:sp>
      <p:sp>
        <p:nvSpPr>
          <p:cNvPr id="433" name="Google Shape;433;p50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1"/>
          <p:cNvSpPr txBox="1"/>
          <p:nvPr>
            <p:ph type="title"/>
          </p:nvPr>
        </p:nvSpPr>
        <p:spPr>
          <a:xfrm>
            <a:off x="606225" y="385025"/>
            <a:ext cx="8382000" cy="62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51"/>
          <p:cNvSpPr txBox="1"/>
          <p:nvPr>
            <p:ph idx="1" type="body"/>
          </p:nvPr>
        </p:nvSpPr>
        <p:spPr>
          <a:xfrm>
            <a:off x="638675" y="1089250"/>
            <a:ext cx="5790900" cy="31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51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300"/>
          </a:p>
        </p:txBody>
      </p:sp>
      <p:sp>
        <p:nvSpPr>
          <p:cNvPr id="441" name="Google Shape;441;p51"/>
          <p:cNvSpPr txBox="1"/>
          <p:nvPr>
            <p:ph idx="2" type="subTitle"/>
          </p:nvPr>
        </p:nvSpPr>
        <p:spPr>
          <a:xfrm>
            <a:off x="4089400" y="4630425"/>
            <a:ext cx="3530700" cy="19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2" name="Google Shape;44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2"/>
          <p:cNvSpPr txBox="1"/>
          <p:nvPr>
            <p:ph type="title"/>
          </p:nvPr>
        </p:nvSpPr>
        <p:spPr>
          <a:xfrm>
            <a:off x="606225" y="269300"/>
            <a:ext cx="8382000" cy="859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52"/>
          <p:cNvSpPr txBox="1"/>
          <p:nvPr>
            <p:ph idx="1" type="body"/>
          </p:nvPr>
        </p:nvSpPr>
        <p:spPr>
          <a:xfrm>
            <a:off x="638675" y="1089250"/>
            <a:ext cx="3183600" cy="31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52"/>
          <p:cNvSpPr txBox="1"/>
          <p:nvPr>
            <p:ph idx="2" type="body"/>
          </p:nvPr>
        </p:nvSpPr>
        <p:spPr>
          <a:xfrm>
            <a:off x="4436400" y="1089250"/>
            <a:ext cx="3183600" cy="31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52"/>
          <p:cNvSpPr txBox="1"/>
          <p:nvPr>
            <p:ph idx="12" type="sldNum"/>
          </p:nvPr>
        </p:nvSpPr>
        <p:spPr>
          <a:xfrm>
            <a:off x="7805634" y="44789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300"/>
          </a:p>
        </p:txBody>
      </p:sp>
      <p:sp>
        <p:nvSpPr>
          <p:cNvPr id="451" name="Google Shape;451;p52"/>
          <p:cNvSpPr txBox="1"/>
          <p:nvPr>
            <p:ph idx="3" type="subTitle"/>
          </p:nvPr>
        </p:nvSpPr>
        <p:spPr>
          <a:xfrm>
            <a:off x="4089400" y="4630425"/>
            <a:ext cx="3530700" cy="19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2" name="Google Shape;45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5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5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61" name="Google Shape;46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800" y="30480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5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5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71" name="Google Shape;47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530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5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5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79" name="Google Shape;479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