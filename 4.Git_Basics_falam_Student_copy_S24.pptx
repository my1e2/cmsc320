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Roboto"/>
      <p:regular r:id="rId34"/>
      <p:bold r:id="rId35"/>
      <p:italic r:id="rId36"/>
      <p:boldItalic r:id="rId37"/>
    </p:embeddedFont>
    <p:embeddedFont>
      <p:font typeface="Arial Black"/>
      <p:regular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9" roundtripDataSignature="AMtx7mgx+mgkltjGT2azoQ3KwrQYRKKI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F1D9E8-3C78-4D83-8F58-37B86ECF63E6}">
  <a:tblStyle styleId="{C2F1D9E8-3C78-4D83-8F58-37B86ECF63E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bold.fntdata"/><Relationship Id="rId12" Type="http://schemas.openxmlformats.org/officeDocument/2006/relationships/slide" Target="slides/slide6.xml"/><Relationship Id="rId34" Type="http://schemas.openxmlformats.org/officeDocument/2006/relationships/font" Target="fonts/Roboto-regular.fntdata"/><Relationship Id="rId15" Type="http://schemas.openxmlformats.org/officeDocument/2006/relationships/slide" Target="slides/slide9.xml"/><Relationship Id="rId37" Type="http://schemas.openxmlformats.org/officeDocument/2006/relationships/font" Target="fonts/Roboto-boldItalic.fntdata"/><Relationship Id="rId14" Type="http://schemas.openxmlformats.org/officeDocument/2006/relationships/slide" Target="slides/slide8.xml"/><Relationship Id="rId36" Type="http://schemas.openxmlformats.org/officeDocument/2006/relationships/font" Target="fonts/Roboto-italic.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ArialBlack-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7918cbb2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267918cbb27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67918cbb27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67918cbb27_0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7918cbb2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267918cbb27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67918cbb27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267918cbb27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67918cbb27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267918cbb27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67918cbb2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267918cbb27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7918cbb27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267918cbb27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67918cbb27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267918cbb27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67918cbb2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267918cbb27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67918cbb2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267918cbb27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67918cbb27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267918cbb27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67918cbb2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267918cbb27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b="1"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67918cbb27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267918cbb27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t/>
            </a:r>
            <a:endParaRPr b="1"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67918cbb2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267918cbb27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AutoNum type="arabicPeriod"/>
            </a:pPr>
            <a:r>
              <a:rPr b="1" lang="en-US"/>
              <a:t>You start your git project </a:t>
            </a:r>
            <a:r>
              <a:rPr lang="en-US"/>
              <a:t>by creating a git repository to track your files or </a:t>
            </a:r>
            <a:r>
              <a:rPr b="1" lang="en-US"/>
              <a:t>copying a remote repository onto your local drive</a:t>
            </a:r>
            <a:r>
              <a:rPr lang="en-US"/>
              <a:t>.</a:t>
            </a:r>
            <a:endParaRPr/>
          </a:p>
          <a:p>
            <a:pPr indent="-298450" lvl="0" marL="457200" rtl="0" algn="l">
              <a:lnSpc>
                <a:spcPct val="100000"/>
              </a:lnSpc>
              <a:spcBef>
                <a:spcPts val="0"/>
              </a:spcBef>
              <a:spcAft>
                <a:spcPts val="0"/>
              </a:spcAft>
              <a:buSzPts val="1100"/>
              <a:buAutoNum type="arabicPeriod"/>
            </a:pPr>
            <a:r>
              <a:rPr lang="en-US"/>
              <a:t>Once</a:t>
            </a:r>
            <a:r>
              <a:rPr lang="en-US" u="sng"/>
              <a:t> you have a local repository on your drive</a:t>
            </a:r>
            <a:r>
              <a:rPr lang="en-US"/>
              <a:t>, you </a:t>
            </a:r>
            <a:r>
              <a:rPr b="1" lang="en-US"/>
              <a:t>check out the project</a:t>
            </a:r>
            <a:r>
              <a:rPr lang="en-US"/>
              <a:t> to a new or existing project branch. This creates a copy of the project files and directories in your working directory, which you can then update with your changes.</a:t>
            </a:r>
            <a:endParaRPr/>
          </a:p>
          <a:p>
            <a:pPr indent="-298450" lvl="0" marL="457200" rtl="0" algn="l">
              <a:lnSpc>
                <a:spcPct val="100000"/>
              </a:lnSpc>
              <a:spcBef>
                <a:spcPts val="0"/>
              </a:spcBef>
              <a:spcAft>
                <a:spcPts val="0"/>
              </a:spcAft>
              <a:buSzPts val="1100"/>
              <a:buAutoNum type="arabicPeriod"/>
            </a:pPr>
            <a:r>
              <a:rPr lang="en-US"/>
              <a:t>You </a:t>
            </a:r>
            <a:r>
              <a:rPr b="1" lang="en-US"/>
              <a:t>copy the updated files to the staging area</a:t>
            </a:r>
            <a:r>
              <a:rPr lang="en-US"/>
              <a:t> when you've </a:t>
            </a:r>
            <a:r>
              <a:rPr lang="en-US" u="sng"/>
              <a:t>completed your changes</a:t>
            </a:r>
            <a:r>
              <a:rPr lang="en-US"/>
              <a:t>. The staging area (also called the index) </a:t>
            </a:r>
            <a:r>
              <a:rPr b="1" lang="en-US"/>
              <a:t>allows you to review your changes before you commit </a:t>
            </a:r>
            <a:r>
              <a:rPr lang="en-US"/>
              <a:t>your updates</a:t>
            </a:r>
            <a:r>
              <a:rPr lang="en-US" u="sng"/>
              <a:t> to your local repository.</a:t>
            </a:r>
            <a:endParaRPr u="sng"/>
          </a:p>
          <a:p>
            <a:pPr indent="-298450" lvl="0" marL="457200" rtl="0" algn="l">
              <a:lnSpc>
                <a:spcPct val="100000"/>
              </a:lnSpc>
              <a:spcBef>
                <a:spcPts val="0"/>
              </a:spcBef>
              <a:spcAft>
                <a:spcPts val="0"/>
              </a:spcAft>
              <a:buSzPts val="1100"/>
              <a:buAutoNum type="arabicPeriod"/>
            </a:pPr>
            <a:r>
              <a:rPr lang="en-US"/>
              <a:t>After you've verified your code in the staging area, you're ready to commit it to the Git repository on your local machine.</a:t>
            </a:r>
            <a:endParaRPr/>
          </a:p>
          <a:p>
            <a:pPr indent="-298450" lvl="0" marL="457200" rtl="0" algn="l">
              <a:lnSpc>
                <a:spcPct val="100000"/>
              </a:lnSpc>
              <a:spcBef>
                <a:spcPts val="0"/>
              </a:spcBef>
              <a:spcAft>
                <a:spcPts val="0"/>
              </a:spcAft>
              <a:buSzPts val="1100"/>
              <a:buAutoNum type="arabicPeriod"/>
            </a:pPr>
            <a:r>
              <a:rPr lang="en-US"/>
              <a:t>You can then push your code to the remote repository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Char char="●"/>
              <a:defRPr>
                <a:solidFill>
                  <a:schemeClr val="dk1"/>
                </a:solidFill>
              </a:defRPr>
            </a:lvl1pPr>
            <a:lvl2pPr indent="-317500" lvl="1" marL="914400" algn="l">
              <a:lnSpc>
                <a:spcPct val="115000"/>
              </a:lnSpc>
              <a:spcBef>
                <a:spcPts val="0"/>
              </a:spcBef>
              <a:spcAft>
                <a:spcPts val="0"/>
              </a:spcAft>
              <a:buClr>
                <a:schemeClr val="dk1"/>
              </a:buClr>
              <a:buSzPts val="1400"/>
              <a:buChar char="○"/>
              <a:defRPr>
                <a:solidFill>
                  <a:schemeClr val="dk1"/>
                </a:solidFill>
              </a:defRPr>
            </a:lvl2pPr>
            <a:lvl3pPr indent="-317500" lvl="2" marL="1371600" algn="l">
              <a:lnSpc>
                <a:spcPct val="115000"/>
              </a:lnSpc>
              <a:spcBef>
                <a:spcPts val="0"/>
              </a:spcBef>
              <a:spcAft>
                <a:spcPts val="0"/>
              </a:spcAft>
              <a:buClr>
                <a:schemeClr val="dk1"/>
              </a:buClr>
              <a:buSzPts val="1400"/>
              <a:buChar char="■"/>
              <a:defRPr>
                <a:solidFill>
                  <a:schemeClr val="dk1"/>
                </a:solidFill>
              </a:defRPr>
            </a:lvl3pPr>
            <a:lvl4pPr indent="-317500" lvl="3" marL="1828800" algn="l">
              <a:lnSpc>
                <a:spcPct val="115000"/>
              </a:lnSpc>
              <a:spcBef>
                <a:spcPts val="0"/>
              </a:spcBef>
              <a:spcAft>
                <a:spcPts val="0"/>
              </a:spcAft>
              <a:buClr>
                <a:schemeClr val="dk1"/>
              </a:buClr>
              <a:buSzPts val="1400"/>
              <a:buChar char="●"/>
              <a:defRPr>
                <a:solidFill>
                  <a:schemeClr val="dk1"/>
                </a:solidFill>
              </a:defRPr>
            </a:lvl4pPr>
            <a:lvl5pPr indent="-317500" lvl="4" marL="2286000" algn="l">
              <a:lnSpc>
                <a:spcPct val="115000"/>
              </a:lnSpc>
              <a:spcBef>
                <a:spcPts val="0"/>
              </a:spcBef>
              <a:spcAft>
                <a:spcPts val="0"/>
              </a:spcAft>
              <a:buClr>
                <a:schemeClr val="dk1"/>
              </a:buClr>
              <a:buSzPts val="1400"/>
              <a:buChar char="○"/>
              <a:defRPr>
                <a:solidFill>
                  <a:schemeClr val="dk1"/>
                </a:solidFill>
              </a:defRPr>
            </a:lvl5pPr>
            <a:lvl6pPr indent="-317500" lvl="5" marL="2743200" algn="l">
              <a:lnSpc>
                <a:spcPct val="115000"/>
              </a:lnSpc>
              <a:spcBef>
                <a:spcPts val="0"/>
              </a:spcBef>
              <a:spcAft>
                <a:spcPts val="0"/>
              </a:spcAft>
              <a:buClr>
                <a:schemeClr val="dk1"/>
              </a:buClr>
              <a:buSzPts val="1400"/>
              <a:buChar char="■"/>
              <a:defRPr>
                <a:solidFill>
                  <a:schemeClr val="dk1"/>
                </a:solidFill>
              </a:defRPr>
            </a:lvl6pPr>
            <a:lvl7pPr indent="-317500" lvl="6" marL="3200400" algn="l">
              <a:lnSpc>
                <a:spcPct val="115000"/>
              </a:lnSpc>
              <a:spcBef>
                <a:spcPts val="0"/>
              </a:spcBef>
              <a:spcAft>
                <a:spcPts val="0"/>
              </a:spcAft>
              <a:buClr>
                <a:schemeClr val="dk1"/>
              </a:buClr>
              <a:buSzPts val="1400"/>
              <a:buChar char="●"/>
              <a:defRPr>
                <a:solidFill>
                  <a:schemeClr val="dk1"/>
                </a:solidFill>
              </a:defRPr>
            </a:lvl7pPr>
            <a:lvl8pPr indent="-317500" lvl="7" marL="3657600" algn="l">
              <a:lnSpc>
                <a:spcPct val="115000"/>
              </a:lnSpc>
              <a:spcBef>
                <a:spcPts val="0"/>
              </a:spcBef>
              <a:spcAft>
                <a:spcPts val="0"/>
              </a:spcAft>
              <a:buClr>
                <a:schemeClr val="dk1"/>
              </a:buClr>
              <a:buSzPts val="1400"/>
              <a:buChar char="○"/>
              <a:defRPr>
                <a:solidFill>
                  <a:schemeClr val="dk1"/>
                </a:solidFill>
              </a:defRPr>
            </a:lvl8pPr>
            <a:lvl9pPr indent="-317500" lvl="8" marL="4114800" algn="l">
              <a:lnSpc>
                <a:spcPct val="115000"/>
              </a:lnSpc>
              <a:spcBef>
                <a:spcPts val="0"/>
              </a:spcBef>
              <a:spcAft>
                <a:spcPts val="0"/>
              </a:spcAft>
              <a:buClr>
                <a:schemeClr val="dk1"/>
              </a:buClr>
              <a:buSzPts val="1400"/>
              <a:buChar char="■"/>
              <a:defRPr>
                <a:solidFill>
                  <a:schemeClr val="dk1"/>
                </a:solidFill>
              </a:defRPr>
            </a:lvl9pPr>
          </a:lstStyle>
          <a:p/>
        </p:txBody>
      </p:sp>
      <p:sp>
        <p:nvSpPr>
          <p:cNvPr id="16" name="Google Shape;16;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41"/>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Google Shape;21;p41"/>
          <p:cNvSpPr txBox="1"/>
          <p:nvPr>
            <p:ph idx="11" type="ftr"/>
          </p:nvPr>
        </p:nvSpPr>
        <p:spPr>
          <a:xfrm>
            <a:off x="3028950" y="4767263"/>
            <a:ext cx="30861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26" name="Shape 26"/>
        <p:cNvGrpSpPr/>
        <p:nvPr/>
      </p:nvGrpSpPr>
      <p:grpSpPr>
        <a:xfrm>
          <a:off x="0" y="0"/>
          <a:ext cx="0" cy="0"/>
          <a:chOff x="0" y="0"/>
          <a:chExt cx="0" cy="0"/>
        </a:xfrm>
      </p:grpSpPr>
      <p:sp>
        <p:nvSpPr>
          <p:cNvPr id="27" name="Google Shape;27;p42"/>
          <p:cNvSpPr txBox="1"/>
          <p:nvPr>
            <p:ph type="title"/>
          </p:nvPr>
        </p:nvSpPr>
        <p:spPr>
          <a:xfrm>
            <a:off x="623888" y="1282304"/>
            <a:ext cx="7886700" cy="2139553"/>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800"/>
              <a:buNone/>
              <a:defRPr sz="4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42"/>
          <p:cNvSpPr txBox="1"/>
          <p:nvPr>
            <p:ph idx="1" type="body"/>
          </p:nvPr>
        </p:nvSpPr>
        <p:spPr>
          <a:xfrm>
            <a:off x="623888" y="3442098"/>
            <a:ext cx="7886700" cy="1125140"/>
          </a:xfrm>
          <a:prstGeom prst="rect">
            <a:avLst/>
          </a:prstGeom>
          <a:noFill/>
          <a:ln>
            <a:noFill/>
          </a:ln>
        </p:spPr>
        <p:txBody>
          <a:bodyPr anchorCtr="0" anchor="t" bIns="91425" lIns="91425" spcFirstLastPara="1" rIns="91425" wrap="square" tIns="91425">
            <a:normAutofit/>
          </a:bodyPr>
          <a:lstStyle>
            <a:lvl1pPr indent="-228600" lvl="0" marL="457200" algn="l">
              <a:lnSpc>
                <a:spcPct val="115000"/>
              </a:lnSpc>
              <a:spcBef>
                <a:spcPts val="0"/>
              </a:spcBef>
              <a:spcAft>
                <a:spcPts val="0"/>
              </a:spcAft>
              <a:buSzPts val="1800"/>
              <a:buNone/>
              <a:defRPr sz="1800">
                <a:solidFill>
                  <a:srgbClr val="888888"/>
                </a:solidFill>
              </a:defRPr>
            </a:lvl1pPr>
            <a:lvl2pPr indent="-228600" lvl="1" marL="914400" algn="l">
              <a:lnSpc>
                <a:spcPct val="115000"/>
              </a:lnSpc>
              <a:spcBef>
                <a:spcPts val="0"/>
              </a:spcBef>
              <a:spcAft>
                <a:spcPts val="0"/>
              </a:spcAft>
              <a:buSzPts val="1400"/>
              <a:buNone/>
              <a:defRPr sz="1500">
                <a:solidFill>
                  <a:srgbClr val="888888"/>
                </a:solidFill>
              </a:defRPr>
            </a:lvl2pPr>
            <a:lvl3pPr indent="-228600" lvl="2" marL="1371600" algn="l">
              <a:lnSpc>
                <a:spcPct val="115000"/>
              </a:lnSpc>
              <a:spcBef>
                <a:spcPts val="0"/>
              </a:spcBef>
              <a:spcAft>
                <a:spcPts val="0"/>
              </a:spcAft>
              <a:buSzPts val="1400"/>
              <a:buNone/>
              <a:defRPr sz="1350">
                <a:solidFill>
                  <a:srgbClr val="888888"/>
                </a:solidFill>
              </a:defRPr>
            </a:lvl3pPr>
            <a:lvl4pPr indent="-228600" lvl="3" marL="1828800" algn="l">
              <a:lnSpc>
                <a:spcPct val="115000"/>
              </a:lnSpc>
              <a:spcBef>
                <a:spcPts val="0"/>
              </a:spcBef>
              <a:spcAft>
                <a:spcPts val="0"/>
              </a:spcAft>
              <a:buSzPts val="1400"/>
              <a:buNone/>
              <a:defRPr sz="1200">
                <a:solidFill>
                  <a:srgbClr val="888888"/>
                </a:solidFill>
              </a:defRPr>
            </a:lvl4pPr>
            <a:lvl5pPr indent="-228600" lvl="4" marL="2286000" algn="l">
              <a:lnSpc>
                <a:spcPct val="115000"/>
              </a:lnSpc>
              <a:spcBef>
                <a:spcPts val="0"/>
              </a:spcBef>
              <a:spcAft>
                <a:spcPts val="0"/>
              </a:spcAft>
              <a:buSzPts val="1400"/>
              <a:buNone/>
              <a:defRPr sz="1200">
                <a:solidFill>
                  <a:srgbClr val="888888"/>
                </a:solidFill>
              </a:defRPr>
            </a:lvl5pPr>
            <a:lvl6pPr indent="-228600" lvl="5" marL="2743200" algn="l">
              <a:lnSpc>
                <a:spcPct val="115000"/>
              </a:lnSpc>
              <a:spcBef>
                <a:spcPts val="0"/>
              </a:spcBef>
              <a:spcAft>
                <a:spcPts val="0"/>
              </a:spcAft>
              <a:buSzPts val="1400"/>
              <a:buNone/>
              <a:defRPr sz="1200">
                <a:solidFill>
                  <a:srgbClr val="888888"/>
                </a:solidFill>
              </a:defRPr>
            </a:lvl6pPr>
            <a:lvl7pPr indent="-228600" lvl="6" marL="3200400" algn="l">
              <a:lnSpc>
                <a:spcPct val="115000"/>
              </a:lnSpc>
              <a:spcBef>
                <a:spcPts val="0"/>
              </a:spcBef>
              <a:spcAft>
                <a:spcPts val="0"/>
              </a:spcAft>
              <a:buSzPts val="1400"/>
              <a:buNone/>
              <a:defRPr sz="1200">
                <a:solidFill>
                  <a:srgbClr val="888888"/>
                </a:solidFill>
              </a:defRPr>
            </a:lvl7pPr>
            <a:lvl8pPr indent="-228600" lvl="7" marL="3657600" algn="l">
              <a:lnSpc>
                <a:spcPct val="115000"/>
              </a:lnSpc>
              <a:spcBef>
                <a:spcPts val="0"/>
              </a:spcBef>
              <a:spcAft>
                <a:spcPts val="0"/>
              </a:spcAft>
              <a:buSzPts val="1400"/>
              <a:buNone/>
              <a:defRPr sz="1200">
                <a:solidFill>
                  <a:srgbClr val="888888"/>
                </a:solidFill>
              </a:defRPr>
            </a:lvl8pPr>
            <a:lvl9pPr indent="-228600" lvl="8" marL="4114800" algn="l">
              <a:lnSpc>
                <a:spcPct val="115000"/>
              </a:lnSpc>
              <a:spcBef>
                <a:spcPts val="0"/>
              </a:spcBef>
              <a:spcAft>
                <a:spcPts val="0"/>
              </a:spcAft>
              <a:buSzPts val="1400"/>
              <a:buNone/>
              <a:defRPr sz="1200">
                <a:solidFill>
                  <a:srgbClr val="888888"/>
                </a:solidFill>
              </a:defRPr>
            </a:lvl9pPr>
          </a:lstStyle>
          <a:p/>
        </p:txBody>
      </p:sp>
      <p:sp>
        <p:nvSpPr>
          <p:cNvPr id="29" name="Google Shape;29;p42"/>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0" name="Google Shape;30;p42"/>
          <p:cNvSpPr txBox="1"/>
          <p:nvPr>
            <p:ph idx="11" type="ftr"/>
          </p:nvPr>
        </p:nvSpPr>
        <p:spPr>
          <a:xfrm>
            <a:off x="3028950" y="4767263"/>
            <a:ext cx="30861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 name="Google Shape;31;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4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4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4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2" name="Google Shape;42;p4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3" name="Google Shape;43;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4" name="Shape 44"/>
        <p:cNvGrpSpPr/>
        <p:nvPr/>
      </p:nvGrpSpPr>
      <p:grpSpPr>
        <a:xfrm>
          <a:off x="0" y="0"/>
          <a:ext cx="0" cy="0"/>
          <a:chOff x="0" y="0"/>
          <a:chExt cx="0" cy="0"/>
        </a:xfrm>
      </p:grpSpPr>
      <p:sp>
        <p:nvSpPr>
          <p:cNvPr id="45" name="Google Shape;45;p4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6" name="Google Shape;4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4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0" name="Google Shape;50;p4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1" name="Google Shape;51;p4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2" name="Google Shape;52;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4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5" name="Google Shape;55;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4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8" name="Google Shape;58;p4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scm.com/book/en/v2/Getting-Started-Installing-Gi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1.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428880" y="479686"/>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US"/>
              <a:t>Basic of Git &amp; GitHub</a:t>
            </a:r>
            <a:endParaRPr/>
          </a:p>
        </p:txBody>
      </p:sp>
      <p:sp>
        <p:nvSpPr>
          <p:cNvPr id="67" name="Google Shape;67;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US"/>
              <a:t>Lecture </a:t>
            </a:r>
            <a:endParaRPr/>
          </a:p>
        </p:txBody>
      </p:sp>
      <p:sp>
        <p:nvSpPr>
          <p:cNvPr id="68" name="Google Shape;6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69" name="Google Shape;69;p1"/>
          <p:cNvSpPr/>
          <p:nvPr/>
        </p:nvSpPr>
        <p:spPr>
          <a:xfrm>
            <a:off x="1828801" y="158100"/>
            <a:ext cx="5289081"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D1282E"/>
                </a:solidFill>
                <a:latin typeface="Arial Black"/>
                <a:ea typeface="Arial Black"/>
                <a:cs typeface="Arial Black"/>
                <a:sym typeface="Arial Black"/>
              </a:rPr>
              <a:t>CMSC 320</a:t>
            </a:r>
            <a:br>
              <a:rPr b="0" i="0" lang="en-US"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p:txBody>
      </p:sp>
      <p:sp>
        <p:nvSpPr>
          <p:cNvPr id="70" name="Google Shape;70;p1"/>
          <p:cNvSpPr/>
          <p:nvPr/>
        </p:nvSpPr>
        <p:spPr>
          <a:xfrm>
            <a:off x="4454820" y="2417862"/>
            <a:ext cx="23436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4454820" y="2417862"/>
            <a:ext cx="23436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2" name="Google Shape;72;p1"/>
          <p:cNvSpPr/>
          <p:nvPr/>
        </p:nvSpPr>
        <p:spPr>
          <a:xfrm>
            <a:off x="2187341" y="479686"/>
            <a:ext cx="4572000"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Black"/>
                <a:ea typeface="Arial Black"/>
                <a:cs typeface="Arial Black"/>
                <a:sym typeface="Arial Black"/>
              </a:rPr>
              <a:t>INTRODUCTION TO </a:t>
            </a:r>
            <a:br>
              <a:rPr b="0" i="0" lang="en-US" sz="2000" u="none" cap="none" strike="noStrike">
                <a:solidFill>
                  <a:srgbClr val="000000"/>
                </a:solidFill>
                <a:latin typeface="Arial Black"/>
                <a:ea typeface="Arial Black"/>
                <a:cs typeface="Arial Black"/>
                <a:sym typeface="Arial Black"/>
              </a:rPr>
            </a:br>
            <a:r>
              <a:rPr b="0" i="0" lang="en-US" sz="2000" u="none" cap="none" strike="noStrike">
                <a:solidFill>
                  <a:srgbClr val="000000"/>
                </a:solidFill>
                <a:latin typeface="Arial Black"/>
                <a:ea typeface="Arial Black"/>
                <a:cs typeface="Arial Black"/>
                <a:sym typeface="Arial Black"/>
              </a:rPr>
              <a:t>DATA SCIENCE</a:t>
            </a:r>
            <a:endParaRPr b="0" i="0" sz="2000" u="none" cap="none" strike="noStrike">
              <a:solidFill>
                <a:srgbClr val="000000"/>
              </a:solidFill>
              <a:latin typeface="Arial"/>
              <a:ea typeface="Arial"/>
              <a:cs typeface="Arial"/>
              <a:sym typeface="Arial"/>
            </a:endParaRPr>
          </a:p>
        </p:txBody>
      </p:sp>
      <p:sp>
        <p:nvSpPr>
          <p:cNvPr id="73" name="Google Shape;73;p1"/>
          <p:cNvSpPr/>
          <p:nvPr/>
        </p:nvSpPr>
        <p:spPr>
          <a:xfrm>
            <a:off x="5395501" y="3568778"/>
            <a:ext cx="4572000" cy="9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D1282E"/>
                </a:solidFill>
                <a:latin typeface="Arial Black"/>
                <a:ea typeface="Arial Black"/>
                <a:cs typeface="Arial Black"/>
                <a:sym typeface="Arial Black"/>
              </a:rPr>
              <a:t>– FARDINA FATHMIUL ALAM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D1282E"/>
                </a:solidFill>
                <a:latin typeface="Arial Black"/>
                <a:ea typeface="Arial Black"/>
                <a:cs typeface="Arial Black"/>
                <a:sym typeface="Arial Black"/>
              </a:rPr>
              <a:t>           (fardina@umd.edu)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74" name="Google Shape;74;p1"/>
          <p:cNvSpPr txBox="1"/>
          <p:nvPr/>
        </p:nvSpPr>
        <p:spPr>
          <a:xfrm>
            <a:off x="3091650" y="4485150"/>
            <a:ext cx="2373900" cy="212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lang="en-US" sz="1500"/>
              <a:t>2</a:t>
            </a:r>
            <a:r>
              <a:rPr b="1" i="0" lang="en-US" sz="1500" u="none" cap="none" strike="noStrike">
                <a:solidFill>
                  <a:srgbClr val="000000"/>
                </a:solidFill>
                <a:latin typeface="Arial"/>
                <a:ea typeface="Arial"/>
                <a:cs typeface="Arial"/>
                <a:sym typeface="Arial"/>
              </a:rPr>
              <a:t>024</a:t>
            </a:r>
            <a:endParaRPr b="1" i="0" sz="1500" u="none" cap="none" strike="noStrike">
              <a:solidFill>
                <a:srgbClr val="000000"/>
              </a:solidFill>
              <a:latin typeface="Arial"/>
              <a:ea typeface="Arial"/>
              <a:cs typeface="Arial"/>
              <a:sym typeface="Arial"/>
            </a:endParaRPr>
          </a:p>
        </p:txBody>
      </p:sp>
      <p:pic>
        <p:nvPicPr>
          <p:cNvPr id="75" name="Google Shape;75;p1"/>
          <p:cNvPicPr preferRelativeResize="0"/>
          <p:nvPr/>
        </p:nvPicPr>
        <p:blipFill rotWithShape="1">
          <a:blip r:embed="rId3">
            <a:alphaModFix/>
          </a:blip>
          <a:srcRect b="22618" l="8601" r="10406" t="16580"/>
          <a:stretch/>
        </p:blipFill>
        <p:spPr>
          <a:xfrm>
            <a:off x="152400" y="4091725"/>
            <a:ext cx="1985501" cy="8586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RECAP: Importance</a:t>
            </a:r>
            <a:endParaRPr/>
          </a:p>
        </p:txBody>
      </p:sp>
      <p:sp>
        <p:nvSpPr>
          <p:cNvPr id="81" name="Google Shape;8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US"/>
              <a:t>Python</a:t>
            </a:r>
            <a:r>
              <a:rPr lang="en-US"/>
              <a:t>: It's a user-friendly language for data analysis.</a:t>
            </a:r>
            <a:endParaRPr/>
          </a:p>
          <a:p>
            <a:pPr indent="-342900" lvl="0" marL="457200" rtl="0" algn="l">
              <a:lnSpc>
                <a:spcPct val="115000"/>
              </a:lnSpc>
              <a:spcBef>
                <a:spcPts val="0"/>
              </a:spcBef>
              <a:spcAft>
                <a:spcPts val="0"/>
              </a:spcAft>
              <a:buSzPts val="1800"/>
              <a:buChar char="●"/>
            </a:pPr>
            <a:r>
              <a:rPr b="1" lang="en-US"/>
              <a:t>Git</a:t>
            </a:r>
            <a:r>
              <a:rPr lang="en-US"/>
              <a:t>: Helps manage code and data changes when working with a team.</a:t>
            </a:r>
            <a:endParaRPr/>
          </a:p>
          <a:p>
            <a:pPr indent="-342900" lvl="0" marL="457200" rtl="0" algn="l">
              <a:lnSpc>
                <a:spcPct val="115000"/>
              </a:lnSpc>
              <a:spcBef>
                <a:spcPts val="0"/>
              </a:spcBef>
              <a:spcAft>
                <a:spcPts val="0"/>
              </a:spcAft>
              <a:buSzPts val="1800"/>
              <a:buChar char="●"/>
            </a:pPr>
            <a:r>
              <a:rPr b="1" lang="en-US"/>
              <a:t>Pandas</a:t>
            </a:r>
            <a:r>
              <a:rPr lang="en-US"/>
              <a:t>: Simplifies data cleaning and manipulation.</a:t>
            </a:r>
            <a:endParaRPr/>
          </a:p>
          <a:p>
            <a:pPr indent="-342900" lvl="0" marL="457200" rtl="0" algn="l">
              <a:lnSpc>
                <a:spcPct val="115000"/>
              </a:lnSpc>
              <a:spcBef>
                <a:spcPts val="0"/>
              </a:spcBef>
              <a:spcAft>
                <a:spcPts val="0"/>
              </a:spcAft>
              <a:buSzPts val="1800"/>
              <a:buChar char="●"/>
            </a:pPr>
            <a:r>
              <a:rPr b="1" lang="en-US"/>
              <a:t>Databases</a:t>
            </a:r>
            <a:r>
              <a:rPr lang="en-US"/>
              <a:t>: Needed for storing and retrieving data efficiently.</a:t>
            </a:r>
            <a:endParaRPr/>
          </a:p>
          <a:p>
            <a:pPr indent="-228600" lvl="0" marL="457200" rtl="0" algn="l">
              <a:lnSpc>
                <a:spcPct val="115000"/>
              </a:lnSpc>
              <a:spcBef>
                <a:spcPts val="0"/>
              </a:spcBef>
              <a:spcAft>
                <a:spcPts val="0"/>
              </a:spcAft>
              <a:buSzPts val="1800"/>
              <a:buNone/>
            </a:pPr>
            <a:r>
              <a:t/>
            </a:r>
            <a:endParaRPr/>
          </a:p>
        </p:txBody>
      </p:sp>
      <p:sp>
        <p:nvSpPr>
          <p:cNvPr id="82" name="Google Shape;8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83" name="Google Shape;83;p2"/>
          <p:cNvSpPr/>
          <p:nvPr/>
        </p:nvSpPr>
        <p:spPr>
          <a:xfrm>
            <a:off x="214042" y="2974282"/>
            <a:ext cx="880711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These skills are essential for effective data analysis, collaboration, and handling data in real-world projects.</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368300" y="1562100"/>
            <a:ext cx="7950300" cy="307800"/>
          </a:xfrm>
          <a:prstGeom prst="rect">
            <a:avLst/>
          </a:prstGeom>
          <a:noFill/>
          <a:ln cap="flat" cmpd="sng" w="19050">
            <a:solidFill>
              <a:srgbClr val="D128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E6FC"/>
        </a:solidFill>
      </p:bgPr>
    </p:bg>
    <p:spTree>
      <p:nvGrpSpPr>
        <p:cNvPr id="88" name="Shape 88"/>
        <p:cNvGrpSpPr/>
        <p:nvPr/>
      </p:nvGrpSpPr>
      <p:grpSpPr>
        <a:xfrm>
          <a:off x="0" y="0"/>
          <a:ext cx="0" cy="0"/>
          <a:chOff x="0" y="0"/>
          <a:chExt cx="0" cy="0"/>
        </a:xfrm>
      </p:grpSpPr>
      <p:sp>
        <p:nvSpPr>
          <p:cNvPr id="89" name="Google Shape;89;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114300" rtl="0" algn="ctr">
              <a:lnSpc>
                <a:spcPct val="115000"/>
              </a:lnSpc>
              <a:spcBef>
                <a:spcPts val="0"/>
              </a:spcBef>
              <a:spcAft>
                <a:spcPts val="0"/>
              </a:spcAft>
              <a:buSzPts val="1800"/>
              <a:buNone/>
            </a:pPr>
            <a:r>
              <a:t/>
            </a:r>
            <a:endParaRPr sz="6000"/>
          </a:p>
          <a:p>
            <a:pPr indent="0" lvl="0" marL="114300" rtl="0" algn="ctr">
              <a:lnSpc>
                <a:spcPct val="115000"/>
              </a:lnSpc>
              <a:spcBef>
                <a:spcPts val="0"/>
              </a:spcBef>
              <a:spcAft>
                <a:spcPts val="0"/>
              </a:spcAft>
              <a:buSzPts val="1800"/>
              <a:buNone/>
            </a:pPr>
            <a:r>
              <a:rPr lang="en-US" sz="6000"/>
              <a:t>Git</a:t>
            </a:r>
            <a:endParaRPr sz="6000"/>
          </a:p>
        </p:txBody>
      </p:sp>
      <p:sp>
        <p:nvSpPr>
          <p:cNvPr id="90" name="Google Shape;9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solidFill>
                  <a:srgbClr val="595959"/>
                </a:solidFill>
              </a:rPr>
              <a:t>‹#›</a:t>
            </a:fld>
            <a:endParaRPr>
              <a:solidFill>
                <a:srgbClr val="5959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267918cbb27_0_2"/>
          <p:cNvSpPr txBox="1"/>
          <p:nvPr>
            <p:ph type="title"/>
          </p:nvPr>
        </p:nvSpPr>
        <p:spPr>
          <a:xfrm>
            <a:off x="97050" y="2572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Version Control System (VCS)</a:t>
            </a:r>
            <a:endParaRPr/>
          </a:p>
        </p:txBody>
      </p:sp>
      <p:sp>
        <p:nvSpPr>
          <p:cNvPr id="96" name="Google Shape;96;g267918cbb27_0_2"/>
          <p:cNvSpPr txBox="1"/>
          <p:nvPr>
            <p:ph idx="1" type="body"/>
          </p:nvPr>
        </p:nvSpPr>
        <p:spPr>
          <a:xfrm>
            <a:off x="97050" y="863550"/>
            <a:ext cx="4759500" cy="34164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15000"/>
              </a:lnSpc>
              <a:spcBef>
                <a:spcPts val="0"/>
              </a:spcBef>
              <a:spcAft>
                <a:spcPts val="0"/>
              </a:spcAft>
              <a:buSzPct val="117647"/>
              <a:buNone/>
            </a:pPr>
            <a:r>
              <a:rPr lang="en-US"/>
              <a:t>A software tool used by developers to manage changes to source code over time. </a:t>
            </a:r>
            <a:endParaRPr/>
          </a:p>
          <a:p>
            <a:pPr indent="0" lvl="0" marL="0" rtl="0" algn="l">
              <a:lnSpc>
                <a:spcPct val="115000"/>
              </a:lnSpc>
              <a:spcBef>
                <a:spcPts val="0"/>
              </a:spcBef>
              <a:spcAft>
                <a:spcPts val="0"/>
              </a:spcAft>
              <a:buSzPct val="117647"/>
              <a:buNone/>
            </a:pPr>
            <a:r>
              <a:t/>
            </a:r>
            <a:endParaRPr/>
          </a:p>
          <a:p>
            <a:pPr indent="-325755" lvl="0" marL="457200" rtl="0" algn="l">
              <a:lnSpc>
                <a:spcPct val="115000"/>
              </a:lnSpc>
              <a:spcBef>
                <a:spcPts val="0"/>
              </a:spcBef>
              <a:spcAft>
                <a:spcPts val="0"/>
              </a:spcAft>
              <a:buSzPct val="100000"/>
              <a:buChar char="●"/>
            </a:pPr>
            <a:r>
              <a:rPr b="1" lang="en-US"/>
              <a:t>Tracks</a:t>
            </a:r>
            <a:r>
              <a:rPr lang="en-US"/>
              <a:t> modifications to files, </a:t>
            </a:r>
            <a:r>
              <a:rPr b="1" lang="en-US"/>
              <a:t>allowing multiple </a:t>
            </a:r>
            <a:r>
              <a:rPr lang="en-US"/>
              <a:t>developers to collaborate on a project simultaneously </a:t>
            </a:r>
            <a:r>
              <a:rPr b="1" lang="en-US"/>
              <a:t>while maintaining a complete history</a:t>
            </a:r>
            <a:r>
              <a:rPr lang="en-US"/>
              <a:t> of all changes made to the codebase.</a:t>
            </a:r>
            <a:endParaRPr/>
          </a:p>
          <a:p>
            <a:pPr indent="-325755" lvl="0" marL="457200" rtl="0" algn="l">
              <a:lnSpc>
                <a:spcPct val="115000"/>
              </a:lnSpc>
              <a:spcBef>
                <a:spcPts val="0"/>
              </a:spcBef>
              <a:spcAft>
                <a:spcPts val="0"/>
              </a:spcAft>
              <a:buSzPct val="100000"/>
              <a:buChar char="●"/>
            </a:pPr>
            <a:r>
              <a:rPr lang="en-US"/>
              <a:t>If there are issues, a version control system </a:t>
            </a:r>
            <a:r>
              <a:rPr b="1" lang="en-US"/>
              <a:t>allows you to revert </a:t>
            </a:r>
            <a:r>
              <a:rPr lang="en-US"/>
              <a:t>to an earlier code version.</a:t>
            </a:r>
            <a:endParaRPr/>
          </a:p>
          <a:p>
            <a:pPr indent="0" lvl="0" marL="0" rtl="0" algn="l">
              <a:lnSpc>
                <a:spcPct val="115000"/>
              </a:lnSpc>
              <a:spcBef>
                <a:spcPts val="0"/>
              </a:spcBef>
              <a:spcAft>
                <a:spcPts val="0"/>
              </a:spcAft>
              <a:buSzPct val="117647"/>
              <a:buNone/>
            </a:pPr>
            <a:r>
              <a:t/>
            </a:r>
            <a:endParaRPr/>
          </a:p>
          <a:p>
            <a:pPr indent="0" lvl="0" marL="0" rtl="0" algn="l">
              <a:lnSpc>
                <a:spcPct val="115000"/>
              </a:lnSpc>
              <a:spcBef>
                <a:spcPts val="0"/>
              </a:spcBef>
              <a:spcAft>
                <a:spcPts val="0"/>
              </a:spcAft>
              <a:buSzPct val="117647"/>
              <a:buNone/>
            </a:pPr>
            <a:r>
              <a:rPr lang="en-US">
                <a:solidFill>
                  <a:srgbClr val="BD0901"/>
                </a:solidFill>
              </a:rPr>
              <a:t>Git is the </a:t>
            </a:r>
            <a:r>
              <a:rPr lang="en-US" u="sng">
                <a:solidFill>
                  <a:srgbClr val="BD0901"/>
                </a:solidFill>
              </a:rPr>
              <a:t>most popular version control system</a:t>
            </a:r>
            <a:r>
              <a:rPr lang="en-US">
                <a:solidFill>
                  <a:srgbClr val="BD0901"/>
                </a:solidFill>
              </a:rPr>
              <a:t> in the world.</a:t>
            </a:r>
            <a:endParaRPr>
              <a:solidFill>
                <a:srgbClr val="BD0901"/>
              </a:solidFill>
            </a:endParaRPr>
          </a:p>
        </p:txBody>
      </p:sp>
      <p:sp>
        <p:nvSpPr>
          <p:cNvPr id="97" name="Google Shape;97;g267918cbb27_0_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98" name="Google Shape;98;g267918cbb27_0_2"/>
          <p:cNvPicPr preferRelativeResize="0"/>
          <p:nvPr/>
        </p:nvPicPr>
        <p:blipFill rotWithShape="1">
          <a:blip r:embed="rId3">
            <a:alphaModFix/>
          </a:blip>
          <a:srcRect b="0" l="0" r="0" t="0"/>
          <a:stretch/>
        </p:blipFill>
        <p:spPr>
          <a:xfrm>
            <a:off x="4926497" y="0"/>
            <a:ext cx="4217504" cy="4903442"/>
          </a:xfrm>
          <a:prstGeom prst="rect">
            <a:avLst/>
          </a:prstGeom>
          <a:noFill/>
          <a:ln>
            <a:noFill/>
          </a:ln>
        </p:spPr>
      </p:pic>
      <p:sp>
        <p:nvSpPr>
          <p:cNvPr id="99" name="Google Shape;99;g267918cbb27_0_2"/>
          <p:cNvSpPr/>
          <p:nvPr/>
        </p:nvSpPr>
        <p:spPr>
          <a:xfrm>
            <a:off x="201225" y="1672100"/>
            <a:ext cx="4655100" cy="1703700"/>
          </a:xfrm>
          <a:prstGeom prst="rect">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267918cbb27_0_9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VCS Types</a:t>
            </a:r>
            <a:endParaRPr/>
          </a:p>
        </p:txBody>
      </p:sp>
      <p:sp>
        <p:nvSpPr>
          <p:cNvPr id="105" name="Google Shape;105;g267918cbb27_0_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06" name="Google Shape;106;g267918cbb27_0_95"/>
          <p:cNvPicPr preferRelativeResize="0"/>
          <p:nvPr/>
        </p:nvPicPr>
        <p:blipFill rotWithShape="1">
          <a:blip r:embed="rId3">
            <a:alphaModFix/>
          </a:blip>
          <a:srcRect b="0" l="0" r="0" t="0"/>
          <a:stretch/>
        </p:blipFill>
        <p:spPr>
          <a:xfrm>
            <a:off x="169350" y="1170124"/>
            <a:ext cx="4089299" cy="2140849"/>
          </a:xfrm>
          <a:prstGeom prst="rect">
            <a:avLst/>
          </a:prstGeom>
          <a:noFill/>
          <a:ln>
            <a:noFill/>
          </a:ln>
        </p:spPr>
      </p:pic>
      <p:pic>
        <p:nvPicPr>
          <p:cNvPr id="107" name="Google Shape;107;g267918cbb27_0_95"/>
          <p:cNvPicPr preferRelativeResize="0"/>
          <p:nvPr/>
        </p:nvPicPr>
        <p:blipFill rotWithShape="1">
          <a:blip r:embed="rId4">
            <a:alphaModFix/>
          </a:blip>
          <a:srcRect b="0" l="0" r="0" t="0"/>
          <a:stretch/>
        </p:blipFill>
        <p:spPr>
          <a:xfrm>
            <a:off x="5151550" y="1170125"/>
            <a:ext cx="3585152" cy="2371324"/>
          </a:xfrm>
          <a:prstGeom prst="rect">
            <a:avLst/>
          </a:prstGeom>
          <a:noFill/>
          <a:ln>
            <a:noFill/>
          </a:ln>
        </p:spPr>
      </p:pic>
      <p:sp>
        <p:nvSpPr>
          <p:cNvPr id="108" name="Google Shape;108;g267918cbb27_0_95"/>
          <p:cNvSpPr txBox="1"/>
          <p:nvPr/>
        </p:nvSpPr>
        <p:spPr>
          <a:xfrm>
            <a:off x="496375" y="3463375"/>
            <a:ext cx="35853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There is a single “central” copy of your project somewhere (probably on a server), and programmers will “commit” their changes to this central copy directly.</a:t>
            </a:r>
            <a:endParaRPr b="0" i="0" sz="1400" u="none" cap="none" strike="noStrike">
              <a:solidFill>
                <a:srgbClr val="000000"/>
              </a:solidFill>
              <a:latin typeface="Arial"/>
              <a:ea typeface="Arial"/>
              <a:cs typeface="Arial"/>
              <a:sym typeface="Arial"/>
            </a:endParaRPr>
          </a:p>
        </p:txBody>
      </p:sp>
      <p:sp>
        <p:nvSpPr>
          <p:cNvPr id="109" name="Google Shape;109;g267918cbb27_0_95"/>
          <p:cNvSpPr txBox="1"/>
          <p:nvPr/>
        </p:nvSpPr>
        <p:spPr>
          <a:xfrm>
            <a:off x="5366200" y="3541450"/>
            <a:ext cx="3370500" cy="1262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Each programmer has a full project copy on their local machine. They commit changes locally and use push and pull operations to sync with a shared server for collaboration.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267918cbb27_0_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a:t>
            </a:r>
            <a:endParaRPr/>
          </a:p>
        </p:txBody>
      </p:sp>
      <p:sp>
        <p:nvSpPr>
          <p:cNvPr id="115" name="Google Shape;115;g267918cbb27_0_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US"/>
              <a:t>Git is a </a:t>
            </a:r>
            <a:r>
              <a:rPr b="1" lang="en-US"/>
              <a:t>version control system</a:t>
            </a:r>
            <a:r>
              <a:rPr lang="en-US"/>
              <a:t> that helps developers manage and track changes in their code. It's like a time machine for your code, allowing you to go back to previous versions if something goes wrong or if you need to see how your code looked at a certain point in time.</a:t>
            </a:r>
            <a:endParaRPr/>
          </a:p>
        </p:txBody>
      </p:sp>
      <p:sp>
        <p:nvSpPr>
          <p:cNvPr id="116" name="Google Shape;116;g267918cbb27_0_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17" name="Google Shape;117;g267918cbb27_0_43"/>
          <p:cNvPicPr preferRelativeResize="0"/>
          <p:nvPr/>
        </p:nvPicPr>
        <p:blipFill rotWithShape="1">
          <a:blip r:embed="rId3">
            <a:alphaModFix/>
          </a:blip>
          <a:srcRect b="0" l="0" r="0" t="0"/>
          <a:stretch/>
        </p:blipFill>
        <p:spPr>
          <a:xfrm>
            <a:off x="4896625" y="2885375"/>
            <a:ext cx="3348501" cy="1997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67918cbb27_0_12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a:t>
            </a:r>
            <a:endParaRPr/>
          </a:p>
        </p:txBody>
      </p:sp>
      <p:sp>
        <p:nvSpPr>
          <p:cNvPr id="123" name="Google Shape;123;g267918cbb27_0_122"/>
          <p:cNvSpPr txBox="1"/>
          <p:nvPr>
            <p:ph idx="1" type="body"/>
          </p:nvPr>
        </p:nvSpPr>
        <p:spPr>
          <a:xfrm>
            <a:off x="311700" y="71292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US" sz="1900"/>
              <a:t>A distributed version control system , used by most major corporations and labs</a:t>
            </a:r>
            <a:endParaRPr sz="1900"/>
          </a:p>
          <a:p>
            <a:pPr indent="-342900" lvl="0" marL="457200" rtl="0" algn="l">
              <a:lnSpc>
                <a:spcPct val="115000"/>
              </a:lnSpc>
              <a:spcBef>
                <a:spcPts val="0"/>
              </a:spcBef>
              <a:spcAft>
                <a:spcPts val="0"/>
              </a:spcAft>
              <a:buSzPts val="1800"/>
              <a:buChar char="●"/>
            </a:pPr>
            <a:r>
              <a:rPr b="1" lang="en-US"/>
              <a:t>Keep a history</a:t>
            </a:r>
            <a:r>
              <a:rPr lang="en-US"/>
              <a:t> of previous versions</a:t>
            </a:r>
            <a:endParaRPr/>
          </a:p>
          <a:p>
            <a:pPr indent="-342900" lvl="0" marL="457200" rtl="0" algn="l">
              <a:lnSpc>
                <a:spcPct val="115000"/>
              </a:lnSpc>
              <a:spcBef>
                <a:spcPts val="0"/>
              </a:spcBef>
              <a:spcAft>
                <a:spcPts val="0"/>
              </a:spcAft>
              <a:buSzPts val="1800"/>
              <a:buChar char="●"/>
            </a:pPr>
            <a:r>
              <a:rPr lang="en-US"/>
              <a:t>Everyone </a:t>
            </a:r>
            <a:r>
              <a:rPr b="1" lang="en-US"/>
              <a:t>mirrors the entire repository</a:t>
            </a:r>
            <a:r>
              <a:rPr lang="en-US"/>
              <a:t> instead of simply checking out the latest version of the code</a:t>
            </a:r>
            <a:endParaRPr/>
          </a:p>
          <a:p>
            <a:pPr indent="-317500" lvl="1" marL="914400" rtl="0" algn="l">
              <a:lnSpc>
                <a:spcPct val="115000"/>
              </a:lnSpc>
              <a:spcBef>
                <a:spcPts val="0"/>
              </a:spcBef>
              <a:spcAft>
                <a:spcPts val="0"/>
              </a:spcAft>
              <a:buSzPts val="1400"/>
              <a:buChar char="○"/>
            </a:pPr>
            <a:r>
              <a:rPr lang="en-US"/>
              <a:t>Unlike a centralized version control system, where the project is stored on a central server, each team member using Git has a copy of the project with its history stored on their local machine.</a:t>
            </a:r>
            <a:endParaRPr/>
          </a:p>
          <a:p>
            <a:pPr indent="-342900" lvl="0" marL="457200" rtl="0" algn="l">
              <a:lnSpc>
                <a:spcPct val="115000"/>
              </a:lnSpc>
              <a:spcBef>
                <a:spcPts val="0"/>
              </a:spcBef>
              <a:spcAft>
                <a:spcPts val="0"/>
              </a:spcAft>
              <a:buSzPts val="1800"/>
              <a:buChar char="●"/>
            </a:pPr>
            <a:r>
              <a:rPr b="1" lang="en-US"/>
              <a:t>Develop simultaneously</a:t>
            </a:r>
            <a:r>
              <a:rPr lang="en-US"/>
              <a:t> on different branches</a:t>
            </a:r>
            <a:endParaRPr/>
          </a:p>
          <a:p>
            <a:pPr indent="-317500" lvl="1" marL="914400" rtl="0" algn="l">
              <a:lnSpc>
                <a:spcPct val="115000"/>
              </a:lnSpc>
              <a:spcBef>
                <a:spcPts val="0"/>
              </a:spcBef>
              <a:spcAft>
                <a:spcPts val="0"/>
              </a:spcAft>
              <a:buSzPts val="1400"/>
              <a:buChar char="○"/>
            </a:pPr>
            <a:r>
              <a:rPr lang="en-US"/>
              <a:t>Easily try out new features, integrate them into production or throw them out</a:t>
            </a:r>
            <a:endParaRPr/>
          </a:p>
          <a:p>
            <a:pPr indent="-342900" lvl="0" marL="457200" rtl="0" algn="l">
              <a:lnSpc>
                <a:spcPct val="115000"/>
              </a:lnSpc>
              <a:spcBef>
                <a:spcPts val="0"/>
              </a:spcBef>
              <a:spcAft>
                <a:spcPts val="0"/>
              </a:spcAft>
              <a:buSzPts val="1800"/>
              <a:buChar char="●"/>
            </a:pPr>
            <a:r>
              <a:rPr b="1" lang="en-US"/>
              <a:t>Collaborate</a:t>
            </a:r>
            <a:r>
              <a:rPr lang="en-US"/>
              <a:t> with other developers</a:t>
            </a:r>
            <a:endParaRPr/>
          </a:p>
          <a:p>
            <a:pPr indent="-317500" lvl="1" marL="914400" rtl="0" algn="l">
              <a:lnSpc>
                <a:spcPct val="115000"/>
              </a:lnSpc>
              <a:spcBef>
                <a:spcPts val="0"/>
              </a:spcBef>
              <a:spcAft>
                <a:spcPts val="0"/>
              </a:spcAft>
              <a:buSzPts val="1400"/>
              <a:buChar char="○"/>
            </a:pPr>
            <a:r>
              <a:rPr lang="en-US"/>
              <a:t>“Push” and “pull” code from hosted repositories such as Github</a:t>
            </a:r>
            <a:endParaRPr/>
          </a:p>
        </p:txBody>
      </p:sp>
      <p:sp>
        <p:nvSpPr>
          <p:cNvPr id="124" name="Google Shape;124;g267918cbb27_0_1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25" name="Google Shape;125;g267918cbb27_0_122"/>
          <p:cNvPicPr preferRelativeResize="0"/>
          <p:nvPr/>
        </p:nvPicPr>
        <p:blipFill rotWithShape="1">
          <a:blip r:embed="rId3">
            <a:alphaModFix/>
          </a:blip>
          <a:srcRect b="0" l="0" r="0" t="0"/>
          <a:stretch/>
        </p:blipFill>
        <p:spPr>
          <a:xfrm>
            <a:off x="7332150" y="3649000"/>
            <a:ext cx="1610574" cy="960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Why Git?</a:t>
            </a:r>
            <a:endParaRPr/>
          </a:p>
        </p:txBody>
      </p:sp>
      <p:sp>
        <p:nvSpPr>
          <p:cNvPr id="131" name="Google Shape;131;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lang="en-US">
                <a:solidFill>
                  <a:srgbClr val="262626"/>
                </a:solidFill>
              </a:rPr>
              <a:t>Most commonly used software for tracking changes in any set of files, usually used for coordinating work among programmers collaboratively developing source code during software development. </a:t>
            </a:r>
            <a:endParaRPr/>
          </a:p>
          <a:p>
            <a:pPr indent="-228600" lvl="0" marL="457200" rtl="0" algn="l">
              <a:lnSpc>
                <a:spcPct val="115000"/>
              </a:lnSpc>
              <a:spcBef>
                <a:spcPts val="0"/>
              </a:spcBef>
              <a:spcAft>
                <a:spcPts val="0"/>
              </a:spcAft>
              <a:buSzPts val="1800"/>
              <a:buNone/>
            </a:pPr>
            <a:r>
              <a:t/>
            </a:r>
            <a:endParaRPr/>
          </a:p>
        </p:txBody>
      </p:sp>
      <p:pic>
        <p:nvPicPr>
          <p:cNvPr id="132" name="Google Shape;132;p9"/>
          <p:cNvPicPr preferRelativeResize="0"/>
          <p:nvPr/>
        </p:nvPicPr>
        <p:blipFill rotWithShape="1">
          <a:blip r:embed="rId3">
            <a:alphaModFix/>
          </a:blip>
          <a:srcRect b="0" l="0" r="0" t="0"/>
          <a:stretch/>
        </p:blipFill>
        <p:spPr>
          <a:xfrm>
            <a:off x="2181802" y="2302392"/>
            <a:ext cx="3899971" cy="2128838"/>
          </a:xfrm>
          <a:prstGeom prst="rect">
            <a:avLst/>
          </a:prstGeom>
          <a:noFill/>
          <a:ln>
            <a:noFill/>
          </a:ln>
        </p:spPr>
      </p:pic>
      <p:sp>
        <p:nvSpPr>
          <p:cNvPr id="133" name="Google Shape;13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267918cbb27_0_10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Installing Git</a:t>
            </a:r>
            <a:endParaRPr/>
          </a:p>
        </p:txBody>
      </p:sp>
      <p:sp>
        <p:nvSpPr>
          <p:cNvPr id="139" name="Google Shape;139;g267918cbb27_0_10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u="sng">
                <a:solidFill>
                  <a:schemeClr val="hlink"/>
                </a:solidFill>
                <a:hlinkClick r:id="rId3"/>
              </a:rPr>
              <a:t>https://git-scm.com/book/en/v2/Getting-Started-Installing-Git</a:t>
            </a:r>
            <a:endParaRPr/>
          </a:p>
          <a:p>
            <a:pPr indent="0" lvl="0" marL="0" rtl="0" algn="l">
              <a:lnSpc>
                <a:spcPct val="115000"/>
              </a:lnSpc>
              <a:spcBef>
                <a:spcPts val="0"/>
              </a:spcBef>
              <a:spcAft>
                <a:spcPts val="0"/>
              </a:spcAft>
              <a:buSzPts val="1800"/>
              <a:buNone/>
            </a:pPr>
            <a:r>
              <a:t/>
            </a:r>
            <a:endParaRPr/>
          </a:p>
        </p:txBody>
      </p:sp>
      <p:sp>
        <p:nvSpPr>
          <p:cNvPr id="140" name="Google Shape;140;g267918cbb27_0_10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67918cbb27_0_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Repository</a:t>
            </a:r>
            <a:endParaRPr/>
          </a:p>
        </p:txBody>
      </p:sp>
      <p:sp>
        <p:nvSpPr>
          <p:cNvPr id="146" name="Google Shape;146;g267918cbb27_0_8"/>
          <p:cNvSpPr txBox="1"/>
          <p:nvPr>
            <p:ph idx="1" type="body"/>
          </p:nvPr>
        </p:nvSpPr>
        <p:spPr>
          <a:xfrm>
            <a:off x="311700" y="1152475"/>
            <a:ext cx="50007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i="1" lang="en-US" sz="1600">
                <a:solidFill>
                  <a:srgbClr val="A31515"/>
                </a:solidFill>
              </a:rPr>
              <a:t>After installing Git, you can initialize it for a project to create a new Git repository.</a:t>
            </a:r>
            <a:endParaRPr i="1" sz="1600">
              <a:solidFill>
                <a:srgbClr val="A31515"/>
              </a:solidFill>
            </a:endParaRPr>
          </a:p>
          <a:p>
            <a:pPr indent="0" lvl="0" marL="0" rtl="0" algn="l">
              <a:lnSpc>
                <a:spcPct val="115000"/>
              </a:lnSpc>
              <a:spcBef>
                <a:spcPts val="0"/>
              </a:spcBef>
              <a:spcAft>
                <a:spcPts val="0"/>
              </a:spcAft>
              <a:buSzPts val="1800"/>
              <a:buNone/>
            </a:pPr>
            <a:r>
              <a:t/>
            </a:r>
            <a:endParaRPr i="1" sz="1600">
              <a:solidFill>
                <a:srgbClr val="A31515"/>
              </a:solidFill>
            </a:endParaRPr>
          </a:p>
          <a:p>
            <a:pPr indent="0" lvl="0" marL="0" rtl="0" algn="just">
              <a:lnSpc>
                <a:spcPct val="115000"/>
              </a:lnSpc>
              <a:spcBef>
                <a:spcPts val="0"/>
              </a:spcBef>
              <a:spcAft>
                <a:spcPts val="0"/>
              </a:spcAft>
              <a:buSzPts val="1800"/>
              <a:buNone/>
            </a:pPr>
            <a:r>
              <a:rPr b="1" lang="en-US" sz="1500"/>
              <a:t>The Git Repository, represented by the '.git' directory, is a database </a:t>
            </a:r>
            <a:r>
              <a:rPr lang="en-US" sz="1500"/>
              <a:t>that contains all the project source code and the history of all code updates. The '.git' directory is typically located at the root of the project directory.</a:t>
            </a:r>
            <a:endParaRPr sz="1500"/>
          </a:p>
        </p:txBody>
      </p:sp>
      <p:sp>
        <p:nvSpPr>
          <p:cNvPr id="147" name="Google Shape;147;g267918cbb27_0_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48" name="Google Shape;148;g267918cbb27_0_8"/>
          <p:cNvPicPr preferRelativeResize="0"/>
          <p:nvPr/>
        </p:nvPicPr>
        <p:blipFill rotWithShape="1">
          <a:blip r:embed="rId3">
            <a:alphaModFix/>
          </a:blip>
          <a:srcRect b="0" l="19073" r="12999" t="6559"/>
          <a:stretch/>
        </p:blipFill>
        <p:spPr>
          <a:xfrm>
            <a:off x="5701575" y="1135225"/>
            <a:ext cx="3511901" cy="2873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267918cbb27_0_1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Repository</a:t>
            </a:r>
            <a:endParaRPr/>
          </a:p>
        </p:txBody>
      </p:sp>
      <p:sp>
        <p:nvSpPr>
          <p:cNvPr id="154" name="Google Shape;154;g267918cbb27_0_130"/>
          <p:cNvSpPr txBox="1"/>
          <p:nvPr>
            <p:ph idx="1" type="body"/>
          </p:nvPr>
        </p:nvSpPr>
        <p:spPr>
          <a:xfrm>
            <a:off x="311700" y="1152475"/>
            <a:ext cx="5000700" cy="3416400"/>
          </a:xfrm>
          <a:prstGeom prst="rect">
            <a:avLst/>
          </a:prstGeom>
          <a:noFill/>
          <a:ln>
            <a:noFill/>
          </a:ln>
        </p:spPr>
        <p:txBody>
          <a:bodyPr anchorCtr="0" anchor="t" bIns="91425" lIns="91425" spcFirstLastPara="1" rIns="91425" wrap="square" tIns="91425">
            <a:normAutofit/>
          </a:bodyPr>
          <a:lstStyle/>
          <a:p>
            <a:pPr indent="0" lvl="0" marL="0" rtl="0" algn="just">
              <a:lnSpc>
                <a:spcPct val="95000"/>
              </a:lnSpc>
              <a:spcBef>
                <a:spcPts val="0"/>
              </a:spcBef>
              <a:spcAft>
                <a:spcPts val="0"/>
              </a:spcAft>
              <a:buSzPts val="1800"/>
              <a:buNone/>
            </a:pPr>
            <a:r>
              <a:rPr lang="en-US" sz="1700"/>
              <a:t>While a Git repository can be stored on your local machine, especially for solo projects, it's common practice to store project code in a repository on a remote server.</a:t>
            </a:r>
            <a:endParaRPr sz="1700"/>
          </a:p>
          <a:p>
            <a:pPr indent="0" lvl="0" marL="0" rtl="0" algn="just">
              <a:lnSpc>
                <a:spcPct val="95000"/>
              </a:lnSpc>
              <a:spcBef>
                <a:spcPts val="0"/>
              </a:spcBef>
              <a:spcAft>
                <a:spcPts val="0"/>
              </a:spcAft>
              <a:buSzPts val="1800"/>
              <a:buNone/>
            </a:pPr>
            <a:r>
              <a:t/>
            </a:r>
            <a:endParaRPr sz="1700"/>
          </a:p>
          <a:p>
            <a:pPr indent="-336550" lvl="0" marL="457200" rtl="0" algn="just">
              <a:lnSpc>
                <a:spcPct val="95000"/>
              </a:lnSpc>
              <a:spcBef>
                <a:spcPts val="0"/>
              </a:spcBef>
              <a:spcAft>
                <a:spcPts val="0"/>
              </a:spcAft>
              <a:buSzPts val="1700"/>
              <a:buChar char="●"/>
            </a:pPr>
            <a:r>
              <a:rPr lang="en-US" sz="1700"/>
              <a:t>Git repositories may include </a:t>
            </a:r>
            <a:r>
              <a:rPr b="1" lang="en-US" sz="1700"/>
              <a:t>configuration files </a:t>
            </a:r>
            <a:r>
              <a:rPr lang="en-US" sz="1700"/>
              <a:t>such as </a:t>
            </a:r>
            <a:r>
              <a:rPr b="1" lang="en-US" sz="1700"/>
              <a:t>.gitignore</a:t>
            </a:r>
            <a:r>
              <a:rPr lang="en-US" sz="1700"/>
              <a:t> for specifying ignored files and directories, and .</a:t>
            </a:r>
            <a:r>
              <a:rPr b="1" lang="en-US" sz="1700"/>
              <a:t>gitattributes</a:t>
            </a:r>
            <a:r>
              <a:rPr lang="en-US" sz="1700"/>
              <a:t> for defining attributes like line endings or merge strategies (e.g., ensuring </a:t>
            </a:r>
            <a:r>
              <a:rPr lang="en-US" sz="1700">
                <a:solidFill>
                  <a:srgbClr val="A31515"/>
                </a:solidFill>
              </a:rPr>
              <a:t>consistent line endings across platforms</a:t>
            </a:r>
            <a:r>
              <a:rPr lang="en-US" sz="1700"/>
              <a:t>).</a:t>
            </a:r>
            <a:endParaRPr sz="1700"/>
          </a:p>
        </p:txBody>
      </p:sp>
      <p:sp>
        <p:nvSpPr>
          <p:cNvPr id="155" name="Google Shape;155;g267918cbb27_0_1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56" name="Google Shape;156;g267918cbb27_0_130"/>
          <p:cNvPicPr preferRelativeResize="0"/>
          <p:nvPr/>
        </p:nvPicPr>
        <p:blipFill rotWithShape="1">
          <a:blip r:embed="rId3">
            <a:alphaModFix/>
          </a:blip>
          <a:srcRect b="0" l="19073" r="12999" t="6559"/>
          <a:stretch/>
        </p:blipFill>
        <p:spPr>
          <a:xfrm>
            <a:off x="5766550" y="1152475"/>
            <a:ext cx="3254599" cy="2751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267918cbb27_0_1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Github</a:t>
            </a:r>
            <a:endParaRPr/>
          </a:p>
        </p:txBody>
      </p:sp>
      <p:sp>
        <p:nvSpPr>
          <p:cNvPr id="162" name="Google Shape;162;g267918cbb27_0_1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a:t>GitHub is a </a:t>
            </a:r>
            <a:r>
              <a:rPr b="1" lang="en-US"/>
              <a:t>web-based platform</a:t>
            </a:r>
            <a:r>
              <a:rPr lang="en-US"/>
              <a:t> that serves as a </a:t>
            </a:r>
            <a:r>
              <a:rPr lang="en-US">
                <a:solidFill>
                  <a:srgbClr val="A31515"/>
                </a:solidFill>
              </a:rPr>
              <a:t>hosting service for Git repositories. </a:t>
            </a:r>
            <a:endParaRPr>
              <a:solidFill>
                <a:srgbClr val="A31515"/>
              </a:solidFill>
            </a:endParaRPr>
          </a:p>
          <a:p>
            <a:pPr indent="-342900" lvl="0" marL="457200" rtl="0" algn="l">
              <a:lnSpc>
                <a:spcPct val="115000"/>
              </a:lnSpc>
              <a:spcBef>
                <a:spcPts val="0"/>
              </a:spcBef>
              <a:spcAft>
                <a:spcPts val="0"/>
              </a:spcAft>
              <a:buSzPts val="1800"/>
              <a:buChar char="●"/>
            </a:pPr>
            <a:r>
              <a:rPr lang="en-US"/>
              <a:t>Provides a wide range of features and tools to facilitate collaborative software development and version control.</a:t>
            </a:r>
            <a:endParaRPr/>
          </a:p>
          <a:p>
            <a:pPr indent="-342900" lvl="0" marL="457200" rtl="0" algn="l">
              <a:lnSpc>
                <a:spcPct val="115000"/>
              </a:lnSpc>
              <a:spcBef>
                <a:spcPts val="0"/>
              </a:spcBef>
              <a:spcAft>
                <a:spcPts val="0"/>
              </a:spcAft>
              <a:buSzPts val="1800"/>
              <a:buChar char="●"/>
            </a:pPr>
            <a:r>
              <a:rPr lang="en-US"/>
              <a:t>Serves as a central hub for software development, enabling collaboration, code sharing, and project management for individuals, teams, and communities worldwide.</a:t>
            </a:r>
            <a:endParaRPr/>
          </a:p>
        </p:txBody>
      </p:sp>
      <p:sp>
        <p:nvSpPr>
          <p:cNvPr id="163" name="Google Shape;163;g267918cbb27_0_1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64" name="Google Shape;164;g267918cbb27_0_115"/>
          <p:cNvPicPr preferRelativeResize="0"/>
          <p:nvPr/>
        </p:nvPicPr>
        <p:blipFill rotWithShape="1">
          <a:blip r:embed="rId3">
            <a:alphaModFix/>
          </a:blip>
          <a:srcRect b="22618" l="8601" r="10406" t="16580"/>
          <a:stretch/>
        </p:blipFill>
        <p:spPr>
          <a:xfrm>
            <a:off x="5907650" y="3890475"/>
            <a:ext cx="1985501" cy="8586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Commands</a:t>
            </a:r>
            <a:endParaRPr/>
          </a:p>
        </p:txBody>
      </p:sp>
      <p:sp>
        <p:nvSpPr>
          <p:cNvPr id="170" name="Google Shape;170;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285750" lvl="0" marL="285750" rtl="0" algn="l">
              <a:lnSpc>
                <a:spcPct val="115000"/>
              </a:lnSpc>
              <a:spcBef>
                <a:spcPts val="0"/>
              </a:spcBef>
              <a:spcAft>
                <a:spcPts val="0"/>
              </a:spcAft>
              <a:buSzPts val="1800"/>
              <a:buFont typeface="Noto Sans Symbols"/>
              <a:buChar char="✔"/>
            </a:pPr>
            <a:r>
              <a:rPr lang="en-US"/>
              <a:t>git clone &lt;project URL&gt;</a:t>
            </a:r>
            <a:endParaRPr/>
          </a:p>
          <a:p>
            <a:pPr indent="-285750" lvl="0" marL="285750" rtl="0" algn="l">
              <a:lnSpc>
                <a:spcPct val="115000"/>
              </a:lnSpc>
              <a:spcBef>
                <a:spcPts val="1200"/>
              </a:spcBef>
              <a:spcAft>
                <a:spcPts val="0"/>
              </a:spcAft>
              <a:buSzPts val="1800"/>
              <a:buFont typeface="Noto Sans Symbols"/>
              <a:buChar char="✔"/>
            </a:pPr>
            <a:r>
              <a:rPr lang="en-US"/>
              <a:t>git add my_file.c</a:t>
            </a:r>
            <a:endParaRPr/>
          </a:p>
          <a:p>
            <a:pPr indent="-285750" lvl="0" marL="285750" rtl="0" algn="l">
              <a:lnSpc>
                <a:spcPct val="115000"/>
              </a:lnSpc>
              <a:spcBef>
                <a:spcPts val="1200"/>
              </a:spcBef>
              <a:spcAft>
                <a:spcPts val="0"/>
              </a:spcAft>
              <a:buSzPts val="1800"/>
              <a:buFont typeface="Noto Sans Symbols"/>
              <a:buChar char="✔"/>
            </a:pPr>
            <a:r>
              <a:rPr lang="en-US"/>
              <a:t>git commit</a:t>
            </a:r>
            <a:endParaRPr/>
          </a:p>
          <a:p>
            <a:pPr indent="-285750" lvl="0" marL="285750" rtl="0" algn="l">
              <a:lnSpc>
                <a:spcPct val="115000"/>
              </a:lnSpc>
              <a:spcBef>
                <a:spcPts val="1200"/>
              </a:spcBef>
              <a:spcAft>
                <a:spcPts val="0"/>
              </a:spcAft>
              <a:buSzPts val="1800"/>
              <a:buFont typeface="Noto Sans Symbols"/>
              <a:buChar char="✔"/>
            </a:pPr>
            <a:r>
              <a:rPr lang="en-US"/>
              <a:t>git status</a:t>
            </a:r>
            <a:endParaRPr/>
          </a:p>
          <a:p>
            <a:pPr indent="-285750" lvl="0" marL="285750" rtl="0" algn="l">
              <a:lnSpc>
                <a:spcPct val="115000"/>
              </a:lnSpc>
              <a:spcBef>
                <a:spcPts val="1200"/>
              </a:spcBef>
              <a:spcAft>
                <a:spcPts val="0"/>
              </a:spcAft>
              <a:buSzPts val="1800"/>
              <a:buFont typeface="Noto Sans Symbols"/>
              <a:buChar char="✔"/>
            </a:pPr>
            <a:r>
              <a:rPr lang="en-US"/>
              <a:t>git branch</a:t>
            </a:r>
            <a:endParaRPr/>
          </a:p>
          <a:p>
            <a:pPr indent="-285750" lvl="0" marL="285750" rtl="0" algn="l">
              <a:lnSpc>
                <a:spcPct val="115000"/>
              </a:lnSpc>
              <a:spcBef>
                <a:spcPts val="1200"/>
              </a:spcBef>
              <a:spcAft>
                <a:spcPts val="0"/>
              </a:spcAft>
              <a:buSzPts val="1800"/>
              <a:buFont typeface="Noto Sans Symbols"/>
              <a:buChar char="✔"/>
            </a:pPr>
            <a:r>
              <a:rPr lang="en-US"/>
              <a:t>git checkout </a:t>
            </a:r>
            <a:endParaRPr/>
          </a:p>
          <a:p>
            <a:pPr indent="-285750" lvl="0" marL="285750" rtl="0" algn="l">
              <a:lnSpc>
                <a:spcPct val="115000"/>
              </a:lnSpc>
              <a:spcBef>
                <a:spcPts val="1200"/>
              </a:spcBef>
              <a:spcAft>
                <a:spcPts val="1200"/>
              </a:spcAft>
              <a:buSzPts val="1800"/>
              <a:buFont typeface="Noto Sans Symbols"/>
              <a:buChar char="✔"/>
            </a:pPr>
            <a:r>
              <a:rPr lang="en-US"/>
              <a:t>git push</a:t>
            </a:r>
            <a:endParaRPr/>
          </a:p>
        </p:txBody>
      </p:sp>
      <p:sp>
        <p:nvSpPr>
          <p:cNvPr id="171" name="Google Shape;17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1"/>
          <p:cNvSpPr txBox="1"/>
          <p:nvPr>
            <p:ph type="title"/>
          </p:nvPr>
        </p:nvSpPr>
        <p:spPr>
          <a:xfrm>
            <a:off x="311700" y="60712"/>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 Git Command</a:t>
            </a:r>
            <a:endParaRPr/>
          </a:p>
        </p:txBody>
      </p:sp>
      <p:sp>
        <p:nvSpPr>
          <p:cNvPr id="177" name="Google Shape;17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050"/>
              <a:buFont typeface="Arial"/>
              <a:buNone/>
            </a:pPr>
            <a:fld id="{00000000-1234-1234-1234-123412341234}" type="slidenum">
              <a:rPr b="0" i="0" lang="en-US" sz="1050" u="none" cap="none" strike="noStrike">
                <a:solidFill>
                  <a:schemeClr val="dk1"/>
                </a:solidFill>
                <a:latin typeface="Arial"/>
                <a:ea typeface="Arial"/>
                <a:cs typeface="Arial"/>
                <a:sym typeface="Arial"/>
              </a:rPr>
              <a:t>‹#›</a:t>
            </a:fld>
            <a:endParaRPr b="0" i="0" sz="1050" u="none" cap="none" strike="noStrike">
              <a:solidFill>
                <a:schemeClr val="dk1"/>
              </a:solidFill>
              <a:latin typeface="Arial"/>
              <a:ea typeface="Arial"/>
              <a:cs typeface="Arial"/>
              <a:sym typeface="Arial"/>
            </a:endParaRPr>
          </a:p>
        </p:txBody>
      </p:sp>
      <p:graphicFrame>
        <p:nvGraphicFramePr>
          <p:cNvPr id="178" name="Google Shape;178;p11"/>
          <p:cNvGraphicFramePr/>
          <p:nvPr/>
        </p:nvGraphicFramePr>
        <p:xfrm>
          <a:off x="1657350" y="686991"/>
          <a:ext cx="3000000" cy="3000000"/>
        </p:xfrm>
        <a:graphic>
          <a:graphicData uri="http://schemas.openxmlformats.org/drawingml/2006/table">
            <a:tbl>
              <a:tblPr>
                <a:noFill/>
                <a:tableStyleId>{C2F1D9E8-3C78-4D83-8F58-37B86ECF63E6}</a:tableStyleId>
              </a:tblPr>
              <a:tblGrid>
                <a:gridCol w="2522775"/>
                <a:gridCol w="3363675"/>
              </a:tblGrid>
              <a:tr h="297600">
                <a:tc>
                  <a:txBody>
                    <a:bodyPr/>
                    <a:lstStyle/>
                    <a:p>
                      <a:pPr indent="0" lvl="0" marL="0" marR="0" rtl="0" algn="ctr">
                        <a:lnSpc>
                          <a:spcPct val="100000"/>
                        </a:lnSpc>
                        <a:spcBef>
                          <a:spcPts val="0"/>
                        </a:spcBef>
                        <a:spcAft>
                          <a:spcPts val="0"/>
                        </a:spcAft>
                        <a:buClr>
                          <a:srgbClr val="BD0901"/>
                        </a:buClr>
                        <a:buSzPts val="1500"/>
                        <a:buFont typeface="Arial"/>
                        <a:buNone/>
                      </a:pPr>
                      <a:r>
                        <a:rPr b="1" i="0" lang="en-US" sz="1500" u="none" cap="none" strike="noStrike">
                          <a:solidFill>
                            <a:srgbClr val="262626"/>
                          </a:solidFill>
                          <a:latin typeface="Calibri"/>
                          <a:ea typeface="Calibri"/>
                          <a:cs typeface="Calibri"/>
                          <a:sym typeface="Calibri"/>
                        </a:rPr>
                        <a:t>command</a:t>
                      </a:r>
                      <a:endParaRPr sz="1400" u="none" cap="none" strike="noStrike"/>
                    </a:p>
                  </a:txBody>
                  <a:tcPr marT="34275" marB="34275"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BD0901"/>
                        </a:buClr>
                        <a:buSzPts val="1500"/>
                        <a:buFont typeface="Arial"/>
                        <a:buNone/>
                      </a:pPr>
                      <a:r>
                        <a:rPr b="1" i="0" lang="en-US" sz="1500" u="none" cap="none" strike="noStrike">
                          <a:solidFill>
                            <a:srgbClr val="262626"/>
                          </a:solidFill>
                          <a:latin typeface="Calibri"/>
                          <a:ea typeface="Calibri"/>
                          <a:cs typeface="Calibri"/>
                          <a:sym typeface="Calibri"/>
                        </a:rPr>
                        <a:t>description</a:t>
                      </a:r>
                      <a:endParaRPr sz="1400" u="none" cap="none" strike="noStrike"/>
                    </a:p>
                  </a:txBody>
                  <a:tcPr marT="34275" marB="34275"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4275">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onsolas"/>
                          <a:ea typeface="Consolas"/>
                          <a:cs typeface="Consolas"/>
                          <a:sym typeface="Consolas"/>
                        </a:rPr>
                        <a:t> </a:t>
                      </a:r>
                      <a:r>
                        <a:rPr b="0" i="0" lang="en-US" sz="1400" u="none" cap="none" strike="noStrike">
                          <a:solidFill>
                            <a:schemeClr val="dk1"/>
                          </a:solidFill>
                          <a:latin typeface="Consolas"/>
                          <a:ea typeface="Consolas"/>
                          <a:cs typeface="Consolas"/>
                          <a:sym typeface="Consolas"/>
                        </a:rPr>
                        <a:t>git clone </a:t>
                      </a:r>
                      <a:r>
                        <a:rPr b="1" i="1" lang="en-US" sz="1400" u="none" cap="none" strike="noStrike">
                          <a:solidFill>
                            <a:schemeClr val="dk1"/>
                          </a:solidFill>
                          <a:latin typeface="Consolas"/>
                          <a:ea typeface="Consolas"/>
                          <a:cs typeface="Consolas"/>
                          <a:sym typeface="Consolas"/>
                        </a:rPr>
                        <a:t>url [dir]</a:t>
                      </a:r>
                      <a:endParaRPr sz="1400" u="none" cap="none" strike="noStrike"/>
                    </a:p>
                  </a:txBody>
                  <a:tcPr marT="34275" marB="34275"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alibri"/>
                          <a:ea typeface="Calibri"/>
                          <a:cs typeface="Calibri"/>
                          <a:sym typeface="Calibri"/>
                        </a:rPr>
                        <a:t>copy a git repository so you can add to it</a:t>
                      </a:r>
                      <a:endParaRPr sz="1400" u="none" cap="none" strike="noStrike"/>
                    </a:p>
                  </a:txBody>
                  <a:tcPr marT="34275" marB="34275"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r>
              <a:tr h="274275">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onsolas"/>
                          <a:ea typeface="Consolas"/>
                          <a:cs typeface="Consolas"/>
                          <a:sym typeface="Consolas"/>
                        </a:rPr>
                        <a:t> git add </a:t>
                      </a:r>
                      <a:r>
                        <a:rPr b="1" i="1" lang="en-US" sz="1500" u="none" cap="none" strike="noStrike">
                          <a:solidFill>
                            <a:schemeClr val="dk1"/>
                          </a:solidFill>
                          <a:latin typeface="Consolas"/>
                          <a:ea typeface="Consolas"/>
                          <a:cs typeface="Consolas"/>
                          <a:sym typeface="Consolas"/>
                        </a:rPr>
                        <a:t>files</a:t>
                      </a:r>
                      <a:endParaRPr sz="1400" u="none" cap="none" strike="noStrike"/>
                    </a:p>
                  </a:txBody>
                  <a:tcPr marT="34275" marB="34275"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alibri"/>
                          <a:ea typeface="Calibri"/>
                          <a:cs typeface="Calibri"/>
                          <a:sym typeface="Calibri"/>
                        </a:rPr>
                        <a:t>adds file contents to the staging area</a:t>
                      </a:r>
                      <a:endParaRPr sz="1400" u="none" cap="none" strike="noStrike"/>
                    </a:p>
                  </a:txBody>
                  <a:tcPr marT="34275" marB="34275"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r>
              <a:tr h="274275">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onsolas"/>
                          <a:ea typeface="Consolas"/>
                          <a:cs typeface="Consolas"/>
                          <a:sym typeface="Consolas"/>
                        </a:rPr>
                        <a:t> git commit</a:t>
                      </a:r>
                      <a:endParaRPr b="1" i="1" sz="1500" u="none" cap="none" strike="noStrike">
                        <a:solidFill>
                          <a:schemeClr val="dk1"/>
                        </a:solidFill>
                        <a:latin typeface="Consolas"/>
                        <a:ea typeface="Consolas"/>
                        <a:cs typeface="Consolas"/>
                        <a:sym typeface="Consolas"/>
                      </a:endParaRPr>
                    </a:p>
                  </a:txBody>
                  <a:tcPr marT="34275" marB="34275"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alibri"/>
                          <a:ea typeface="Calibri"/>
                          <a:cs typeface="Calibri"/>
                          <a:sym typeface="Calibri"/>
                        </a:rPr>
                        <a:t>records a snapshot of the staging area</a:t>
                      </a:r>
                      <a:endParaRPr sz="1400" u="none" cap="none" strike="noStrike"/>
                    </a:p>
                  </a:txBody>
                  <a:tcPr marT="34275" marB="34275"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r>
              <a:tr h="480025">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onsolas"/>
                          <a:ea typeface="Consolas"/>
                          <a:cs typeface="Consolas"/>
                          <a:sym typeface="Consolas"/>
                        </a:rPr>
                        <a:t> git status</a:t>
                      </a:r>
                      <a:endParaRPr b="1" i="1" sz="1500" u="none" cap="none" strike="noStrike">
                        <a:solidFill>
                          <a:schemeClr val="dk1"/>
                        </a:solidFill>
                        <a:latin typeface="Consolas"/>
                        <a:ea typeface="Consolas"/>
                        <a:cs typeface="Consolas"/>
                        <a:sym typeface="Consolas"/>
                      </a:endParaRPr>
                    </a:p>
                  </a:txBody>
                  <a:tcPr marT="34275" marB="34275"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alibri"/>
                          <a:ea typeface="Calibri"/>
                          <a:cs typeface="Calibri"/>
                          <a:sym typeface="Calibri"/>
                        </a:rPr>
                        <a:t>view the status of your files in the working directory and staging area</a:t>
                      </a:r>
                      <a:endParaRPr sz="1400" u="none" cap="none" strike="noStrike"/>
                    </a:p>
                  </a:txBody>
                  <a:tcPr marT="34275" marB="34275"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r>
              <a:tr h="480025">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onsolas"/>
                          <a:ea typeface="Consolas"/>
                          <a:cs typeface="Consolas"/>
                          <a:sym typeface="Consolas"/>
                        </a:rPr>
                        <a:t> </a:t>
                      </a:r>
                      <a:r>
                        <a:rPr b="0" i="0" lang="en-US" sz="1400" u="none" cap="none" strike="noStrike">
                          <a:solidFill>
                            <a:schemeClr val="dk1"/>
                          </a:solidFill>
                          <a:latin typeface="Consolas"/>
                          <a:ea typeface="Consolas"/>
                          <a:cs typeface="Consolas"/>
                          <a:sym typeface="Consolas"/>
                        </a:rPr>
                        <a:t>git diff</a:t>
                      </a:r>
                      <a:endParaRPr b="1" i="1" sz="1400" u="none" cap="none" strike="noStrike">
                        <a:solidFill>
                          <a:schemeClr val="dk1"/>
                        </a:solidFill>
                        <a:latin typeface="Consolas"/>
                        <a:ea typeface="Consolas"/>
                        <a:cs typeface="Consolas"/>
                        <a:sym typeface="Consolas"/>
                      </a:endParaRPr>
                    </a:p>
                  </a:txBody>
                  <a:tcPr marT="34275" marB="34275"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alibri"/>
                          <a:ea typeface="Calibri"/>
                          <a:cs typeface="Calibri"/>
                          <a:sym typeface="Calibri"/>
                        </a:rPr>
                        <a:t>shows diff of what is staged and what is modified but unstaged</a:t>
                      </a:r>
                      <a:endParaRPr sz="1400" u="none" cap="none" strike="noStrike"/>
                    </a:p>
                  </a:txBody>
                  <a:tcPr marT="34275" marB="34275"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r>
              <a:tr h="274275">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onsolas"/>
                          <a:ea typeface="Consolas"/>
                          <a:cs typeface="Consolas"/>
                          <a:sym typeface="Consolas"/>
                        </a:rPr>
                        <a:t> git help </a:t>
                      </a:r>
                      <a:r>
                        <a:rPr b="1" i="1" lang="en-US" sz="1500" u="none" cap="none" strike="noStrike">
                          <a:solidFill>
                            <a:schemeClr val="dk1"/>
                          </a:solidFill>
                          <a:latin typeface="Consolas"/>
                          <a:ea typeface="Consolas"/>
                          <a:cs typeface="Consolas"/>
                          <a:sym typeface="Consolas"/>
                        </a:rPr>
                        <a:t>[command]</a:t>
                      </a:r>
                      <a:endParaRPr sz="1400" u="none" cap="none" strike="noStrike"/>
                    </a:p>
                  </a:txBody>
                  <a:tcPr marT="34275" marB="34275"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alibri"/>
                          <a:ea typeface="Calibri"/>
                          <a:cs typeface="Calibri"/>
                          <a:sym typeface="Calibri"/>
                        </a:rPr>
                        <a:t>get help info about a particular command</a:t>
                      </a:r>
                      <a:endParaRPr sz="1400" u="none" cap="none" strike="noStrike"/>
                    </a:p>
                  </a:txBody>
                  <a:tcPr marT="34275" marB="34275"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0025">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onsolas"/>
                          <a:ea typeface="Consolas"/>
                          <a:cs typeface="Consolas"/>
                          <a:sym typeface="Consolas"/>
                        </a:rPr>
                        <a:t> git pull</a:t>
                      </a:r>
                      <a:endParaRPr b="1" i="1" sz="1500" u="none" cap="none" strike="noStrike">
                        <a:solidFill>
                          <a:schemeClr val="dk1"/>
                        </a:solidFill>
                        <a:latin typeface="Consolas"/>
                        <a:ea typeface="Consolas"/>
                        <a:cs typeface="Consolas"/>
                        <a:sym typeface="Consolas"/>
                      </a:endParaRPr>
                    </a:p>
                  </a:txBody>
                  <a:tcPr marT="34275" marB="34275"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alibri"/>
                          <a:ea typeface="Calibri"/>
                          <a:cs typeface="Calibri"/>
                          <a:sym typeface="Calibri"/>
                        </a:rPr>
                        <a:t>fetch from a remote repo and try to merge into the current branch</a:t>
                      </a:r>
                      <a:endParaRPr sz="1400" u="none" cap="none" strike="noStrike"/>
                    </a:p>
                  </a:txBody>
                  <a:tcPr marT="34275" marB="34275"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r>
              <a:tr h="480025">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onsolas"/>
                          <a:ea typeface="Consolas"/>
                          <a:cs typeface="Consolas"/>
                          <a:sym typeface="Consolas"/>
                        </a:rPr>
                        <a:t> git push</a:t>
                      </a:r>
                      <a:endParaRPr b="1" i="1" sz="1500" u="none" cap="none" strike="noStrike">
                        <a:solidFill>
                          <a:schemeClr val="dk1"/>
                        </a:solidFill>
                        <a:latin typeface="Consolas"/>
                        <a:ea typeface="Consolas"/>
                        <a:cs typeface="Consolas"/>
                        <a:sym typeface="Consolas"/>
                      </a:endParaRPr>
                    </a:p>
                  </a:txBody>
                  <a:tcPr marT="34275" marB="34275" marR="68575" marL="68575">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c>
                  <a:txBody>
                    <a:bodyPr/>
                    <a:lstStyle/>
                    <a:p>
                      <a:pPr indent="0" lvl="0" marL="0" marR="0" rtl="0" algn="l">
                        <a:lnSpc>
                          <a:spcPct val="90000"/>
                        </a:lnSpc>
                        <a:spcBef>
                          <a:spcPts val="0"/>
                        </a:spcBef>
                        <a:spcAft>
                          <a:spcPts val="0"/>
                        </a:spcAft>
                        <a:buClr>
                          <a:srgbClr val="BD0901"/>
                        </a:buClr>
                        <a:buSzPts val="1500"/>
                        <a:buFont typeface="Arial"/>
                        <a:buNone/>
                      </a:pPr>
                      <a:r>
                        <a:rPr b="0" i="0" lang="en-US" sz="1500" u="none" cap="none" strike="noStrike">
                          <a:solidFill>
                            <a:schemeClr val="dk1"/>
                          </a:solidFill>
                          <a:latin typeface="Calibri"/>
                          <a:ea typeface="Calibri"/>
                          <a:cs typeface="Calibri"/>
                          <a:sym typeface="Calibri"/>
                        </a:rPr>
                        <a:t>push your new branches and data to a remote repository</a:t>
                      </a:r>
                      <a:endParaRPr sz="1400" u="none" cap="none" strike="noStrike"/>
                    </a:p>
                  </a:txBody>
                  <a:tcPr marT="34275" marB="34275" marR="68575" marL="68575">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CC"/>
                    </a:solidFill>
                  </a:tcPr>
                </a:tc>
              </a:tr>
              <a:tr h="479750">
                <a:tc gridSpan="2">
                  <a:txBody>
                    <a:bodyPr/>
                    <a:lstStyle/>
                    <a:p>
                      <a:pPr indent="0" lvl="0" marL="0" marR="0" rtl="0" algn="ctr">
                        <a:lnSpc>
                          <a:spcPct val="100000"/>
                        </a:lnSpc>
                        <a:spcBef>
                          <a:spcPts val="0"/>
                        </a:spcBef>
                        <a:spcAft>
                          <a:spcPts val="0"/>
                        </a:spcAft>
                        <a:buClr>
                          <a:srgbClr val="BD0901"/>
                        </a:buClr>
                        <a:buSzPts val="1400"/>
                        <a:buFont typeface="Arial"/>
                        <a:buNone/>
                      </a:pPr>
                      <a:r>
                        <a:rPr b="0" i="0" lang="en-US" sz="1400" u="none" cap="none" strike="noStrike">
                          <a:solidFill>
                            <a:srgbClr val="262626"/>
                          </a:solidFill>
                          <a:latin typeface="Calibri"/>
                          <a:ea typeface="Calibri"/>
                          <a:cs typeface="Calibri"/>
                          <a:sym typeface="Calibri"/>
                        </a:rPr>
                        <a:t>others:</a:t>
                      </a:r>
                      <a:r>
                        <a:rPr b="0" i="0" lang="en-US" sz="1400" u="none" cap="none" strike="noStrike">
                          <a:solidFill>
                            <a:srgbClr val="262626"/>
                          </a:solidFill>
                          <a:latin typeface="Consolas"/>
                          <a:ea typeface="Consolas"/>
                          <a:cs typeface="Consolas"/>
                          <a:sym typeface="Consolas"/>
                        </a:rPr>
                        <a:t> init, reset, branch, checkout, merge, log, tag</a:t>
                      </a:r>
                      <a:endParaRPr sz="1400" u="none" cap="none" strike="noStrike"/>
                    </a:p>
                  </a:txBody>
                  <a:tcPr marT="34275" marB="34275" marR="68575" marL="6857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67918cbb27_0_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To start a new project with Git</a:t>
            </a:r>
            <a:endParaRPr/>
          </a:p>
        </p:txBody>
      </p:sp>
      <p:sp>
        <p:nvSpPr>
          <p:cNvPr id="184" name="Google Shape;184;g267918cbb27_0_5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a:t>We can either </a:t>
            </a:r>
            <a:endParaRPr/>
          </a:p>
          <a:p>
            <a:pPr indent="-342900" lvl="0" marL="457200" rtl="0" algn="l">
              <a:lnSpc>
                <a:spcPct val="115000"/>
              </a:lnSpc>
              <a:spcBef>
                <a:spcPts val="0"/>
              </a:spcBef>
              <a:spcAft>
                <a:spcPts val="0"/>
              </a:spcAft>
              <a:buSzPts val="1800"/>
              <a:buChar char="●"/>
            </a:pPr>
            <a:r>
              <a:rPr lang="en-US" u="sng"/>
              <a:t>initialize</a:t>
            </a:r>
            <a:r>
              <a:rPr lang="en-US"/>
              <a:t> a </a:t>
            </a:r>
            <a:r>
              <a:rPr lang="en-US">
                <a:solidFill>
                  <a:srgbClr val="BD0901"/>
                </a:solidFill>
              </a:rPr>
              <a:t>new</a:t>
            </a:r>
            <a:r>
              <a:rPr lang="en-US"/>
              <a:t> repository in an existing project directory or </a:t>
            </a:r>
            <a:endParaRPr/>
          </a:p>
          <a:p>
            <a:pPr indent="-342900" lvl="0" marL="457200" rtl="0" algn="l">
              <a:lnSpc>
                <a:spcPct val="115000"/>
              </a:lnSpc>
              <a:spcBef>
                <a:spcPts val="0"/>
              </a:spcBef>
              <a:spcAft>
                <a:spcPts val="0"/>
              </a:spcAft>
              <a:buSzPts val="1800"/>
              <a:buChar char="●"/>
            </a:pPr>
            <a:r>
              <a:rPr lang="en-US" u="sng"/>
              <a:t>clone</a:t>
            </a:r>
            <a:r>
              <a:rPr lang="en-US"/>
              <a:t> an </a:t>
            </a:r>
            <a:r>
              <a:rPr lang="en-US">
                <a:solidFill>
                  <a:srgbClr val="C00000"/>
                </a:solidFill>
              </a:rPr>
              <a:t>existing</a:t>
            </a:r>
            <a:r>
              <a:rPr lang="en-US"/>
              <a:t> repository from a remote location (like GitHub) onto your local machine.</a:t>
            </a:r>
            <a:endParaRPr/>
          </a:p>
        </p:txBody>
      </p:sp>
      <p:sp>
        <p:nvSpPr>
          <p:cNvPr id="185" name="Google Shape;185;g267918cbb27_0_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67918cbb27_0_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init</a:t>
            </a:r>
            <a:endParaRPr/>
          </a:p>
        </p:txBody>
      </p:sp>
      <p:sp>
        <p:nvSpPr>
          <p:cNvPr id="191" name="Google Shape;191;g267918cbb27_0_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US">
                <a:solidFill>
                  <a:schemeClr val="dk1"/>
                </a:solidFill>
              </a:rPr>
              <a:t>Initialize a new repository:</a:t>
            </a:r>
            <a:endParaRPr b="1">
              <a:solidFill>
                <a:schemeClr val="dk1"/>
              </a:solidFill>
            </a:endParaRPr>
          </a:p>
          <a:p>
            <a:pPr indent="0" lvl="0" marL="0" rtl="0" algn="l">
              <a:lnSpc>
                <a:spcPct val="115000"/>
              </a:lnSpc>
              <a:spcBef>
                <a:spcPts val="0"/>
              </a:spcBef>
              <a:spcAft>
                <a:spcPts val="0"/>
              </a:spcAft>
              <a:buSzPts val="1800"/>
              <a:buNone/>
            </a:pPr>
            <a:r>
              <a:rPr lang="en-US">
                <a:solidFill>
                  <a:schemeClr val="dk1"/>
                </a:solidFill>
              </a:rPr>
              <a:t>Git init creates an empty git repository for project tracking. Once the repository is created, any files added to the repository are automatically tracked.</a:t>
            </a:r>
            <a:endParaRPr>
              <a:solidFill>
                <a:schemeClr val="dk1"/>
              </a:solidFill>
            </a:endParaRPr>
          </a:p>
          <a:p>
            <a:pPr indent="0" lvl="0" marL="0" rtl="0" algn="l">
              <a:lnSpc>
                <a:spcPct val="115000"/>
              </a:lnSpc>
              <a:spcBef>
                <a:spcPts val="0"/>
              </a:spcBef>
              <a:spcAft>
                <a:spcPts val="0"/>
              </a:spcAft>
              <a:buSzPts val="1800"/>
              <a:buNone/>
            </a:pPr>
            <a:r>
              <a:t/>
            </a:r>
            <a:endParaRPr>
              <a:solidFill>
                <a:schemeClr val="dk1"/>
              </a:solidFill>
            </a:endParaRPr>
          </a:p>
          <a:p>
            <a:pPr indent="0" lvl="0" marL="0" rtl="0" algn="l">
              <a:lnSpc>
                <a:spcPct val="115000"/>
              </a:lnSpc>
              <a:spcBef>
                <a:spcPts val="0"/>
              </a:spcBef>
              <a:spcAft>
                <a:spcPts val="0"/>
              </a:spcAft>
              <a:buSzPts val="1800"/>
              <a:buNone/>
            </a:pPr>
            <a:r>
              <a:rPr lang="en-US">
                <a:solidFill>
                  <a:schemeClr val="dk1"/>
                </a:solidFill>
              </a:rPr>
              <a:t>command: </a:t>
            </a:r>
            <a:endParaRPr>
              <a:solidFill>
                <a:schemeClr val="dk1"/>
              </a:solidFill>
            </a:endParaRPr>
          </a:p>
          <a:p>
            <a:pPr indent="0" lvl="0" marL="0" rtl="0" algn="l">
              <a:lnSpc>
                <a:spcPct val="115000"/>
              </a:lnSpc>
              <a:spcBef>
                <a:spcPts val="0"/>
              </a:spcBef>
              <a:spcAft>
                <a:spcPts val="0"/>
              </a:spcAft>
              <a:buSzPts val="1800"/>
              <a:buNone/>
            </a:pPr>
            <a:r>
              <a:t/>
            </a:r>
            <a:endParaRPr>
              <a:solidFill>
                <a:schemeClr val="dk1"/>
              </a:solidFill>
            </a:endParaRPr>
          </a:p>
        </p:txBody>
      </p:sp>
      <p:sp>
        <p:nvSpPr>
          <p:cNvPr id="192" name="Google Shape;192;g267918cbb27_0_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93" name="Google Shape;193;g267918cbb27_0_21"/>
          <p:cNvPicPr preferRelativeResize="0"/>
          <p:nvPr/>
        </p:nvPicPr>
        <p:blipFill rotWithShape="1">
          <a:blip r:embed="rId3">
            <a:alphaModFix/>
          </a:blip>
          <a:srcRect b="0" l="0" r="0" t="0"/>
          <a:stretch/>
        </p:blipFill>
        <p:spPr>
          <a:xfrm>
            <a:off x="1633500" y="2451000"/>
            <a:ext cx="3424925" cy="964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type="title"/>
          </p:nvPr>
        </p:nvSpPr>
        <p:spPr>
          <a:xfrm>
            <a:off x="311700" y="199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Clone</a:t>
            </a:r>
            <a:endParaRPr/>
          </a:p>
        </p:txBody>
      </p:sp>
      <p:sp>
        <p:nvSpPr>
          <p:cNvPr id="199" name="Google Shape;199;p12"/>
          <p:cNvSpPr txBox="1"/>
          <p:nvPr>
            <p:ph idx="1" type="body"/>
          </p:nvPr>
        </p:nvSpPr>
        <p:spPr>
          <a:xfrm>
            <a:off x="311700" y="869138"/>
            <a:ext cx="8520600" cy="3699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Creates a clone/copy of an existing repository into a new directory.</a:t>
            </a:r>
            <a:endParaRPr/>
          </a:p>
          <a:p>
            <a:pPr indent="-342900" lvl="1" marL="914400" rtl="0" algn="l">
              <a:lnSpc>
                <a:spcPct val="115000"/>
              </a:lnSpc>
              <a:spcBef>
                <a:spcPts val="0"/>
              </a:spcBef>
              <a:spcAft>
                <a:spcPts val="0"/>
              </a:spcAft>
              <a:buSzPts val="1800"/>
              <a:buChar char="○"/>
            </a:pPr>
            <a:r>
              <a:rPr lang="en-US"/>
              <a:t> Eg.Clones a repository from a remote location to your local machine.</a:t>
            </a:r>
            <a:endParaRPr/>
          </a:p>
        </p:txBody>
      </p:sp>
      <p:pic>
        <p:nvPicPr>
          <p:cNvPr id="200" name="Google Shape;200;p12"/>
          <p:cNvPicPr preferRelativeResize="0"/>
          <p:nvPr/>
        </p:nvPicPr>
        <p:blipFill rotWithShape="1">
          <a:blip r:embed="rId3">
            <a:alphaModFix/>
          </a:blip>
          <a:srcRect b="0" l="0" r="0" t="0"/>
          <a:stretch/>
        </p:blipFill>
        <p:spPr>
          <a:xfrm>
            <a:off x="1484795" y="1590675"/>
            <a:ext cx="6174410" cy="1270000"/>
          </a:xfrm>
          <a:prstGeom prst="rect">
            <a:avLst/>
          </a:prstGeom>
          <a:noFill/>
          <a:ln>
            <a:noFill/>
          </a:ln>
        </p:spPr>
      </p:pic>
      <p:sp>
        <p:nvSpPr>
          <p:cNvPr id="201" name="Google Shape;20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267918cbb27_0_137"/>
          <p:cNvSpPr txBox="1"/>
          <p:nvPr>
            <p:ph type="title"/>
          </p:nvPr>
        </p:nvSpPr>
        <p:spPr>
          <a:xfrm>
            <a:off x="311700" y="199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Clone</a:t>
            </a:r>
            <a:endParaRPr/>
          </a:p>
        </p:txBody>
      </p:sp>
      <p:sp>
        <p:nvSpPr>
          <p:cNvPr id="207" name="Google Shape;207;g267918cbb27_0_137"/>
          <p:cNvSpPr txBox="1"/>
          <p:nvPr>
            <p:ph idx="1" type="body"/>
          </p:nvPr>
        </p:nvSpPr>
        <p:spPr>
          <a:xfrm>
            <a:off x="-184675" y="1192225"/>
            <a:ext cx="5309400" cy="36996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t/>
            </a:r>
            <a:endParaRPr sz="1900"/>
          </a:p>
          <a:p>
            <a:pPr indent="-323850" lvl="1" marL="914400" rtl="0" algn="just">
              <a:lnSpc>
                <a:spcPct val="115000"/>
              </a:lnSpc>
              <a:spcBef>
                <a:spcPts val="0"/>
              </a:spcBef>
              <a:spcAft>
                <a:spcPts val="0"/>
              </a:spcAft>
              <a:buSzPts val="1500"/>
              <a:buChar char="○"/>
            </a:pPr>
            <a:r>
              <a:rPr b="1" lang="en-US" sz="1500"/>
              <a:t>Downloads an exact copy</a:t>
            </a:r>
            <a:r>
              <a:rPr lang="en-US" sz="1500"/>
              <a:t> of the files from the remote/central repository (hosted on a platform like GitHub, GitLab, etc.)  into a newly initialized local repository on your computer. </a:t>
            </a:r>
            <a:endParaRPr sz="1500"/>
          </a:p>
          <a:p>
            <a:pPr indent="-323850" lvl="1" marL="914400" rtl="0" algn="just">
              <a:lnSpc>
                <a:spcPct val="115000"/>
              </a:lnSpc>
              <a:spcBef>
                <a:spcPts val="0"/>
              </a:spcBef>
              <a:spcAft>
                <a:spcPts val="0"/>
              </a:spcAft>
              <a:buSzPts val="1500"/>
              <a:buChar char="○"/>
            </a:pPr>
            <a:r>
              <a:rPr lang="en-US" sz="1500"/>
              <a:t>From there, we can check out files and make changes. </a:t>
            </a:r>
            <a:endParaRPr sz="1500"/>
          </a:p>
          <a:p>
            <a:pPr indent="-323850" lvl="1" marL="914400" rtl="0" algn="just">
              <a:lnSpc>
                <a:spcPct val="115000"/>
              </a:lnSpc>
              <a:spcBef>
                <a:spcPts val="0"/>
              </a:spcBef>
              <a:spcAft>
                <a:spcPts val="0"/>
              </a:spcAft>
              <a:buSzPts val="1500"/>
              <a:buChar char="○"/>
            </a:pPr>
            <a:r>
              <a:rPr lang="en-US" sz="1500">
                <a:solidFill>
                  <a:srgbClr val="C00000"/>
                </a:solidFill>
              </a:rPr>
              <a:t>This example  establishes a new Git repository locally named 'team-project', </a:t>
            </a:r>
            <a:r>
              <a:rPr lang="en-US" sz="1500"/>
              <a:t>allowing us to work on the project locally with version control.</a:t>
            </a:r>
            <a:endParaRPr sz="1500"/>
          </a:p>
        </p:txBody>
      </p:sp>
      <p:pic>
        <p:nvPicPr>
          <p:cNvPr id="208" name="Google Shape;208;g267918cbb27_0_137"/>
          <p:cNvPicPr preferRelativeResize="0"/>
          <p:nvPr/>
        </p:nvPicPr>
        <p:blipFill rotWithShape="1">
          <a:blip r:embed="rId3">
            <a:alphaModFix/>
          </a:blip>
          <a:srcRect b="0" l="0" r="0" t="0"/>
          <a:stretch/>
        </p:blipFill>
        <p:spPr>
          <a:xfrm>
            <a:off x="5322134" y="1452679"/>
            <a:ext cx="3644347" cy="2049945"/>
          </a:xfrm>
          <a:prstGeom prst="rect">
            <a:avLst/>
          </a:prstGeom>
          <a:noFill/>
          <a:ln>
            <a:noFill/>
          </a:ln>
        </p:spPr>
      </p:pic>
      <p:sp>
        <p:nvSpPr>
          <p:cNvPr id="209" name="Google Shape;209;g267918cbb27_0_1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10" name="Google Shape;210;g267918cbb27_0_137"/>
          <p:cNvPicPr preferRelativeResize="0"/>
          <p:nvPr/>
        </p:nvPicPr>
        <p:blipFill rotWithShape="1">
          <a:blip r:embed="rId4">
            <a:alphaModFix/>
          </a:blip>
          <a:srcRect b="0" l="0" r="0" t="0"/>
          <a:stretch/>
        </p:blipFill>
        <p:spPr>
          <a:xfrm>
            <a:off x="821500" y="927400"/>
            <a:ext cx="3458050" cy="59621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3"/>
          <p:cNvSpPr txBox="1"/>
          <p:nvPr>
            <p:ph type="title"/>
          </p:nvPr>
        </p:nvSpPr>
        <p:spPr>
          <a:xfrm>
            <a:off x="67270" y="-26779"/>
            <a:ext cx="3254573"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Adding a file to git repository: git add, commit</a:t>
            </a:r>
            <a:endParaRPr/>
          </a:p>
        </p:txBody>
      </p:sp>
      <p:sp>
        <p:nvSpPr>
          <p:cNvPr id="216" name="Google Shape;216;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17" name="Google Shape;217;p13"/>
          <p:cNvPicPr preferRelativeResize="0"/>
          <p:nvPr/>
        </p:nvPicPr>
        <p:blipFill rotWithShape="1">
          <a:blip r:embed="rId3">
            <a:alphaModFix/>
          </a:blip>
          <a:srcRect b="0" l="0" r="0" t="0"/>
          <a:stretch/>
        </p:blipFill>
        <p:spPr>
          <a:xfrm>
            <a:off x="3321844" y="176419"/>
            <a:ext cx="5822156" cy="2264569"/>
          </a:xfrm>
          <a:prstGeom prst="rect">
            <a:avLst/>
          </a:prstGeom>
          <a:noFill/>
          <a:ln>
            <a:noFill/>
          </a:ln>
        </p:spPr>
      </p:pic>
      <p:pic>
        <p:nvPicPr>
          <p:cNvPr id="218" name="Google Shape;218;p13"/>
          <p:cNvPicPr preferRelativeResize="0"/>
          <p:nvPr/>
        </p:nvPicPr>
        <p:blipFill rotWithShape="1">
          <a:blip r:embed="rId4">
            <a:alphaModFix/>
          </a:blip>
          <a:srcRect b="0" l="0" r="0" t="0"/>
          <a:stretch/>
        </p:blipFill>
        <p:spPr>
          <a:xfrm>
            <a:off x="91521" y="1231752"/>
            <a:ext cx="3256170" cy="1395501"/>
          </a:xfrm>
          <a:prstGeom prst="rect">
            <a:avLst/>
          </a:prstGeom>
          <a:noFill/>
          <a:ln>
            <a:noFill/>
          </a:ln>
        </p:spPr>
      </p:pic>
      <p:sp>
        <p:nvSpPr>
          <p:cNvPr id="219" name="Google Shape;219;p13"/>
          <p:cNvSpPr/>
          <p:nvPr/>
        </p:nvSpPr>
        <p:spPr>
          <a:xfrm>
            <a:off x="91521" y="3070110"/>
            <a:ext cx="5976085" cy="138499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cd desktop/test-GitDemo</a:t>
            </a:r>
            <a:endParaRPr b="0" i="0" sz="1400" u="none" cap="none" strike="noStrike">
              <a:solidFill>
                <a:srgbClr val="C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git init</a:t>
            </a:r>
            <a:endParaRPr b="0" i="0" sz="1400" u="none" cap="none" strike="noStrike">
              <a:solidFill>
                <a:srgbClr val="C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echo “line1” &gt;&gt; firstfile.txt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echo “line1” &gt;&gt; secondfile.txt</a:t>
            </a:r>
            <a:endParaRPr b="0" i="0" sz="1400" u="none" cap="none" strike="noStrike">
              <a:solidFill>
                <a:srgbClr val="C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git status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3"/>
          <p:cNvSpPr/>
          <p:nvPr/>
        </p:nvSpPr>
        <p:spPr>
          <a:xfrm>
            <a:off x="2767264" y="3256375"/>
            <a:ext cx="61746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git init</a:t>
            </a:r>
            <a:r>
              <a:rPr b="1" i="0" lang="en-US" sz="1400" u="none" cap="none" strike="noStrike">
                <a:solidFill>
                  <a:srgbClr val="374151"/>
                </a:solidFill>
                <a:latin typeface="Arial"/>
                <a:ea typeface="Arial"/>
                <a:cs typeface="Arial"/>
                <a:sym typeface="Arial"/>
              </a:rPr>
              <a:t> </a:t>
            </a:r>
            <a:r>
              <a:rPr b="0" i="0" lang="en-US" sz="1400" u="none" cap="none" strike="noStrike">
                <a:solidFill>
                  <a:srgbClr val="374151"/>
                </a:solidFill>
                <a:latin typeface="Arial"/>
                <a:ea typeface="Arial"/>
                <a:cs typeface="Arial"/>
                <a:sym typeface="Arial"/>
              </a:rPr>
              <a:t>command is used to initialize a new Git repository in a directory. </a:t>
            </a:r>
            <a:endParaRPr b="0" i="0" sz="1400" u="none" cap="none" strike="noStrike">
              <a:solidFill>
                <a:srgbClr val="000000"/>
              </a:solidFill>
              <a:latin typeface="Arial"/>
              <a:ea typeface="Arial"/>
              <a:cs typeface="Arial"/>
              <a:sym typeface="Arial"/>
            </a:endParaRPr>
          </a:p>
        </p:txBody>
      </p:sp>
      <p:sp>
        <p:nvSpPr>
          <p:cNvPr id="221" name="Google Shape;221;p13"/>
          <p:cNvSpPr txBox="1"/>
          <p:nvPr/>
        </p:nvSpPr>
        <p:spPr>
          <a:xfrm>
            <a:off x="2481850" y="3895225"/>
            <a:ext cx="6308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shows which files have been changed and need to be committed to the repository.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27" name="Google Shape;227;p14"/>
          <p:cNvPicPr preferRelativeResize="0"/>
          <p:nvPr/>
        </p:nvPicPr>
        <p:blipFill rotWithShape="1">
          <a:blip r:embed="rId3">
            <a:alphaModFix/>
          </a:blip>
          <a:srcRect b="0" l="0" r="0" t="0"/>
          <a:stretch/>
        </p:blipFill>
        <p:spPr>
          <a:xfrm>
            <a:off x="3321844" y="176419"/>
            <a:ext cx="5822156" cy="2264569"/>
          </a:xfrm>
          <a:prstGeom prst="rect">
            <a:avLst/>
          </a:prstGeom>
          <a:noFill/>
          <a:ln>
            <a:noFill/>
          </a:ln>
        </p:spPr>
      </p:pic>
      <p:pic>
        <p:nvPicPr>
          <p:cNvPr id="228" name="Google Shape;228;p14"/>
          <p:cNvPicPr preferRelativeResize="0"/>
          <p:nvPr/>
        </p:nvPicPr>
        <p:blipFill rotWithShape="1">
          <a:blip r:embed="rId4">
            <a:alphaModFix/>
          </a:blip>
          <a:srcRect b="0" l="0" r="0" t="0"/>
          <a:stretch/>
        </p:blipFill>
        <p:spPr>
          <a:xfrm>
            <a:off x="91521" y="1045487"/>
            <a:ext cx="3256170" cy="1395501"/>
          </a:xfrm>
          <a:prstGeom prst="rect">
            <a:avLst/>
          </a:prstGeom>
          <a:noFill/>
          <a:ln>
            <a:noFill/>
          </a:ln>
        </p:spPr>
      </p:pic>
      <p:sp>
        <p:nvSpPr>
          <p:cNvPr id="229" name="Google Shape;229;p14"/>
          <p:cNvSpPr/>
          <p:nvPr/>
        </p:nvSpPr>
        <p:spPr>
          <a:xfrm>
            <a:off x="91521" y="2545176"/>
            <a:ext cx="5976085" cy="160043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git add &gt;&gt; firstfile.txt             </a:t>
            </a:r>
            <a:r>
              <a:rPr b="0" i="0" lang="en-US" sz="1400" u="none" cap="none" strike="noStrike">
                <a:solidFill>
                  <a:srgbClr val="000000"/>
                </a:solidFill>
                <a:latin typeface="Arial"/>
                <a:ea typeface="Arial"/>
                <a:cs typeface="Arial"/>
                <a:sym typeface="Arial"/>
              </a:rPr>
              <a:t>: add files to the staging staging areaOr $ </a:t>
            </a:r>
            <a:r>
              <a:rPr b="0" i="0" lang="en-US" sz="1400" u="none" cap="none" strike="noStrike">
                <a:solidFill>
                  <a:srgbClr val="C00000"/>
                </a:solidFill>
                <a:latin typeface="Arial"/>
                <a:ea typeface="Arial"/>
                <a:cs typeface="Arial"/>
                <a:sym typeface="Arial"/>
              </a:rPr>
              <a:t>git add &gt;&gt; firstfile.txt secondfile.txt</a:t>
            </a:r>
            <a:endParaRPr b="0" i="0" sz="1400" u="none" cap="none" strike="noStrike">
              <a:solidFill>
                <a:srgbClr val="C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git commit –m “first two files commit” </a:t>
            </a:r>
            <a:r>
              <a:rPr b="0" i="0" lang="en-US" sz="1400" u="none" cap="none" strike="noStrike">
                <a:solidFill>
                  <a:srgbClr val="000000"/>
                </a:solidFill>
                <a:latin typeface="Arial"/>
                <a:ea typeface="Arial"/>
                <a:cs typeface="Arial"/>
                <a:sym typeface="Arial"/>
              </a:rPr>
              <a:t>: permanently storing changes  in the repository.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git status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git log </a:t>
            </a:r>
            <a:r>
              <a:rPr b="0" i="0" lang="en-US" sz="1400" u="none" cap="none" strike="noStrike">
                <a:solidFill>
                  <a:srgbClr val="000000"/>
                </a:solidFill>
                <a:latin typeface="Arial"/>
                <a:ea typeface="Arial"/>
                <a:cs typeface="Arial"/>
                <a:sym typeface="Arial"/>
              </a:rPr>
              <a:t>   :  displays a history of commits in your Git repository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4"/>
          <p:cNvSpPr txBox="1"/>
          <p:nvPr>
            <p:ph type="title"/>
          </p:nvPr>
        </p:nvSpPr>
        <p:spPr>
          <a:xfrm>
            <a:off x="67270" y="-26779"/>
            <a:ext cx="3254573"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Adding a file to git repository: git add, commit</a:t>
            </a:r>
            <a:endParaRPr/>
          </a:p>
        </p:txBody>
      </p:sp>
      <p:sp>
        <p:nvSpPr>
          <p:cNvPr id="231" name="Google Shape;231;p14"/>
          <p:cNvSpPr/>
          <p:nvPr/>
        </p:nvSpPr>
        <p:spPr>
          <a:xfrm>
            <a:off x="6323798" y="2644186"/>
            <a:ext cx="2521819" cy="738664"/>
          </a:xfrm>
          <a:prstGeom prst="rect">
            <a:avLst/>
          </a:prstGeom>
          <a:solidFill>
            <a:srgbClr val="FEEDD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Step 1: Staging </a:t>
            </a:r>
            <a:r>
              <a:rPr b="0" i="0" lang="en-US" sz="1400" u="none" cap="none" strike="noStrike">
                <a:solidFill>
                  <a:srgbClr val="000000"/>
                </a:solidFill>
                <a:latin typeface="Arial"/>
                <a:ea typeface="Arial"/>
                <a:cs typeface="Arial"/>
                <a:sym typeface="Arial"/>
              </a:rPr>
              <a:t>telling Git to include this file in the next commit.</a:t>
            </a:r>
            <a:endParaRPr b="0" i="0" sz="1400" u="none" cap="none" strike="noStrike">
              <a:solidFill>
                <a:srgbClr val="000000"/>
              </a:solidFill>
              <a:latin typeface="Arial"/>
              <a:ea typeface="Arial"/>
              <a:cs typeface="Arial"/>
              <a:sym typeface="Arial"/>
            </a:endParaRPr>
          </a:p>
        </p:txBody>
      </p:sp>
      <p:sp>
        <p:nvSpPr>
          <p:cNvPr id="232" name="Google Shape;232;p14"/>
          <p:cNvSpPr/>
          <p:nvPr/>
        </p:nvSpPr>
        <p:spPr>
          <a:xfrm>
            <a:off x="6323798" y="3518481"/>
            <a:ext cx="2521819" cy="738664"/>
          </a:xfrm>
          <a:prstGeom prst="rect">
            <a:avLst/>
          </a:prstGeom>
          <a:solidFill>
            <a:srgbClr val="D8E6FC"/>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Step 2: Commit </a:t>
            </a:r>
            <a:r>
              <a:rPr b="0" i="0" lang="en-US" sz="1400" u="none" cap="none" strike="noStrike">
                <a:solidFill>
                  <a:srgbClr val="000000"/>
                </a:solidFill>
                <a:latin typeface="Arial"/>
                <a:ea typeface="Arial"/>
                <a:cs typeface="Arial"/>
                <a:sym typeface="Arial"/>
              </a:rPr>
              <a:t>committed those changes with a message</a:t>
            </a:r>
            <a:endParaRPr b="0" i="0" sz="1400" u="none" cap="none" strike="noStrike">
              <a:solidFill>
                <a:srgbClr val="000000"/>
              </a:solidFill>
              <a:latin typeface="Arial"/>
              <a:ea typeface="Arial"/>
              <a:cs typeface="Arial"/>
              <a:sym typeface="Arial"/>
            </a:endParaRPr>
          </a:p>
        </p:txBody>
      </p:sp>
      <p:sp>
        <p:nvSpPr>
          <p:cNvPr id="233" name="Google Shape;233;p14"/>
          <p:cNvSpPr txBox="1"/>
          <p:nvPr/>
        </p:nvSpPr>
        <p:spPr>
          <a:xfrm>
            <a:off x="6708808" y="4360244"/>
            <a:ext cx="17636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Adding Files to Git</a:t>
            </a:r>
            <a:endParaRPr b="0" i="0" sz="1400" u="none" cap="none" strike="noStrike">
              <a:solidFill>
                <a:srgbClr val="000000"/>
              </a:solidFill>
              <a:latin typeface="Arial"/>
              <a:ea typeface="Arial"/>
              <a:cs typeface="Arial"/>
              <a:sym typeface="Arial"/>
            </a:endParaRPr>
          </a:p>
        </p:txBody>
      </p:sp>
      <p:sp>
        <p:nvSpPr>
          <p:cNvPr id="234" name="Google Shape;234;p14"/>
          <p:cNvSpPr txBox="1"/>
          <p:nvPr/>
        </p:nvSpPr>
        <p:spPr>
          <a:xfrm>
            <a:off x="91563" y="4249800"/>
            <a:ext cx="5976000" cy="8313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Staging is the process of organizing and preparing our project files for a commit. It is the intermediate step between modifying our files and storing them permanently in the repository.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267918cbb27_0_1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Staging Area</a:t>
            </a:r>
            <a:endParaRPr/>
          </a:p>
        </p:txBody>
      </p:sp>
      <p:sp>
        <p:nvSpPr>
          <p:cNvPr id="240" name="Google Shape;240;g267918cbb27_0_14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a:solidFill>
                  <a:schemeClr val="dk1"/>
                </a:solidFill>
              </a:rPr>
              <a:t>The staging area in Git is an intermediate area where changes are prepared before they are committed to the repository.</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Staging is the process of organizing and preparing our project files for a commit. </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It is the intermediate step between modifying our files and storing them permanently in the repository.</a:t>
            </a:r>
            <a:endParaRPr>
              <a:solidFill>
                <a:schemeClr val="dk1"/>
              </a:solidFill>
            </a:endParaRPr>
          </a:p>
          <a:p>
            <a:pPr indent="0" lvl="0" marL="0" rtl="0" algn="l">
              <a:lnSpc>
                <a:spcPct val="115000"/>
              </a:lnSpc>
              <a:spcBef>
                <a:spcPts val="0"/>
              </a:spcBef>
              <a:spcAft>
                <a:spcPts val="0"/>
              </a:spcAft>
              <a:buSzPts val="1800"/>
              <a:buNone/>
            </a:pPr>
            <a:r>
              <a:t/>
            </a:r>
            <a:endParaRPr>
              <a:solidFill>
                <a:schemeClr val="dk1"/>
              </a:solidFill>
            </a:endParaRPr>
          </a:p>
        </p:txBody>
      </p:sp>
      <p:sp>
        <p:nvSpPr>
          <p:cNvPr id="241" name="Google Shape;241;g267918cbb27_0_1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42" name="Google Shape;242;g267918cbb27_0_147"/>
          <p:cNvPicPr preferRelativeResize="0"/>
          <p:nvPr/>
        </p:nvPicPr>
        <p:blipFill rotWithShape="1">
          <a:blip r:embed="rId3">
            <a:alphaModFix/>
          </a:blip>
          <a:srcRect b="0" l="0" r="0" t="0"/>
          <a:stretch/>
        </p:blipFill>
        <p:spPr>
          <a:xfrm>
            <a:off x="4735650" y="3296946"/>
            <a:ext cx="3938800" cy="1532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15"/>
          <p:cNvPicPr preferRelativeResize="0"/>
          <p:nvPr/>
        </p:nvPicPr>
        <p:blipFill rotWithShape="1">
          <a:blip r:embed="rId3">
            <a:alphaModFix/>
          </a:blip>
          <a:srcRect b="0" l="0" r="0" t="0"/>
          <a:stretch/>
        </p:blipFill>
        <p:spPr>
          <a:xfrm>
            <a:off x="4622800" y="0"/>
            <a:ext cx="4521200" cy="2829464"/>
          </a:xfrm>
          <a:prstGeom prst="rect">
            <a:avLst/>
          </a:prstGeom>
          <a:noFill/>
          <a:ln>
            <a:noFill/>
          </a:ln>
        </p:spPr>
      </p:pic>
      <p:sp>
        <p:nvSpPr>
          <p:cNvPr id="248" name="Google Shape;248;p15"/>
          <p:cNvSpPr txBox="1"/>
          <p:nvPr>
            <p:ph type="title"/>
          </p:nvPr>
        </p:nvSpPr>
        <p:spPr>
          <a:xfrm>
            <a:off x="311700" y="216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Branch</a:t>
            </a:r>
            <a:endParaRPr/>
          </a:p>
        </p:txBody>
      </p:sp>
      <p:sp>
        <p:nvSpPr>
          <p:cNvPr id="249" name="Google Shape;249;p15"/>
          <p:cNvSpPr/>
          <p:nvPr/>
        </p:nvSpPr>
        <p:spPr>
          <a:xfrm>
            <a:off x="235500" y="2236925"/>
            <a:ext cx="3257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A31515"/>
                </a:solidFill>
                <a:latin typeface="Roboto"/>
                <a:ea typeface="Roboto"/>
                <a:cs typeface="Roboto"/>
                <a:sym typeface="Roboto"/>
              </a:rPr>
              <a:t>Show all the branches</a:t>
            </a:r>
            <a:r>
              <a:rPr b="0" i="0" lang="en-US" sz="1400" u="none" cap="none" strike="noStrike">
                <a:solidFill>
                  <a:srgbClr val="022C4D"/>
                </a:solidFill>
                <a:latin typeface="Roboto"/>
                <a:ea typeface="Roboto"/>
                <a:cs typeface="Roboto"/>
                <a:sym typeface="Roboto"/>
              </a:rPr>
              <a:t> that exist in the rep</a:t>
            </a:r>
            <a:endParaRPr b="0" i="0" sz="1400" u="none" cap="none" strike="noStrike">
              <a:solidFill>
                <a:srgbClr val="000000"/>
              </a:solidFill>
              <a:latin typeface="Arial"/>
              <a:ea typeface="Arial"/>
              <a:cs typeface="Arial"/>
              <a:sym typeface="Arial"/>
            </a:endParaRPr>
          </a:p>
        </p:txBody>
      </p:sp>
      <p:pic>
        <p:nvPicPr>
          <p:cNvPr id="250" name="Google Shape;250;p15"/>
          <p:cNvPicPr preferRelativeResize="0"/>
          <p:nvPr/>
        </p:nvPicPr>
        <p:blipFill rotWithShape="1">
          <a:blip r:embed="rId4">
            <a:alphaModFix/>
          </a:blip>
          <a:srcRect b="0" l="0" r="0" t="0"/>
          <a:stretch/>
        </p:blipFill>
        <p:spPr>
          <a:xfrm>
            <a:off x="325023" y="2834350"/>
            <a:ext cx="3244300" cy="2188560"/>
          </a:xfrm>
          <a:prstGeom prst="rect">
            <a:avLst/>
          </a:prstGeom>
          <a:noFill/>
          <a:ln>
            <a:noFill/>
          </a:ln>
        </p:spPr>
      </p:pic>
      <p:sp>
        <p:nvSpPr>
          <p:cNvPr id="251" name="Google Shape;251;p15"/>
          <p:cNvSpPr txBox="1"/>
          <p:nvPr/>
        </p:nvSpPr>
        <p:spPr>
          <a:xfrm>
            <a:off x="3928533" y="3074434"/>
            <a:ext cx="32512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 🡪 Current Branch</a:t>
            </a:r>
            <a:endParaRPr b="0" i="0" sz="2000" u="none" cap="none" strike="noStrike">
              <a:solidFill>
                <a:srgbClr val="000000"/>
              </a:solidFill>
              <a:latin typeface="Arial"/>
              <a:ea typeface="Arial"/>
              <a:cs typeface="Arial"/>
              <a:sym typeface="Arial"/>
            </a:endParaRPr>
          </a:p>
        </p:txBody>
      </p:sp>
      <p:sp>
        <p:nvSpPr>
          <p:cNvPr id="252" name="Google Shape;252;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53" name="Google Shape;253;p15"/>
          <p:cNvSpPr txBox="1"/>
          <p:nvPr/>
        </p:nvSpPr>
        <p:spPr>
          <a:xfrm>
            <a:off x="311700" y="891400"/>
            <a:ext cx="40329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We can use the git branch command to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show/list all project branches.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create a new branch</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delete an existing branch 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g267918cbb27_0_27"/>
          <p:cNvPicPr preferRelativeResize="0"/>
          <p:nvPr/>
        </p:nvPicPr>
        <p:blipFill rotWithShape="1">
          <a:blip r:embed="rId3">
            <a:alphaModFix/>
          </a:blip>
          <a:srcRect b="0" l="0" r="0" t="0"/>
          <a:stretch/>
        </p:blipFill>
        <p:spPr>
          <a:xfrm>
            <a:off x="4622800" y="0"/>
            <a:ext cx="4521201" cy="2829464"/>
          </a:xfrm>
          <a:prstGeom prst="rect">
            <a:avLst/>
          </a:prstGeom>
          <a:noFill/>
          <a:ln>
            <a:noFill/>
          </a:ln>
        </p:spPr>
      </p:pic>
      <p:sp>
        <p:nvSpPr>
          <p:cNvPr id="259" name="Google Shape;259;g267918cbb27_0_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Branch</a:t>
            </a:r>
            <a:endParaRPr/>
          </a:p>
        </p:txBody>
      </p:sp>
      <p:sp>
        <p:nvSpPr>
          <p:cNvPr id="260" name="Google Shape;260;g267918cbb27_0_27"/>
          <p:cNvSpPr txBox="1"/>
          <p:nvPr/>
        </p:nvSpPr>
        <p:spPr>
          <a:xfrm>
            <a:off x="3928533" y="3074434"/>
            <a:ext cx="3251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 🡪 Current Branch</a:t>
            </a:r>
            <a:endParaRPr b="0" i="0" sz="2000" u="none" cap="none" strike="noStrike">
              <a:solidFill>
                <a:srgbClr val="000000"/>
              </a:solidFill>
              <a:latin typeface="Arial"/>
              <a:ea typeface="Arial"/>
              <a:cs typeface="Arial"/>
              <a:sym typeface="Arial"/>
            </a:endParaRPr>
          </a:p>
        </p:txBody>
      </p:sp>
      <p:sp>
        <p:nvSpPr>
          <p:cNvPr id="261" name="Google Shape;261;g267918cbb27_0_27"/>
          <p:cNvSpPr/>
          <p:nvPr/>
        </p:nvSpPr>
        <p:spPr>
          <a:xfrm>
            <a:off x="311700" y="2981880"/>
            <a:ext cx="45720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A31515"/>
                </a:solidFill>
                <a:latin typeface="Roboto"/>
                <a:ea typeface="Roboto"/>
                <a:cs typeface="Roboto"/>
                <a:sym typeface="Roboto"/>
              </a:rPr>
              <a:t>Create a new branch</a:t>
            </a:r>
            <a:br>
              <a:rPr b="1" i="0" lang="en-US" sz="2000" u="none" cap="none" strike="noStrike">
                <a:solidFill>
                  <a:srgbClr val="A31515"/>
                </a:solidFill>
                <a:latin typeface="Arial"/>
                <a:ea typeface="Arial"/>
                <a:cs typeface="Arial"/>
                <a:sym typeface="Arial"/>
              </a:rPr>
            </a:br>
            <a:endParaRPr b="1" i="0" sz="2000" u="none" cap="none" strike="noStrike">
              <a:solidFill>
                <a:srgbClr val="A31515"/>
              </a:solidFill>
              <a:latin typeface="Arial"/>
              <a:ea typeface="Arial"/>
              <a:cs typeface="Arial"/>
              <a:sym typeface="Arial"/>
            </a:endParaRPr>
          </a:p>
        </p:txBody>
      </p:sp>
      <p:pic>
        <p:nvPicPr>
          <p:cNvPr id="262" name="Google Shape;262;g267918cbb27_0_27"/>
          <p:cNvPicPr preferRelativeResize="0"/>
          <p:nvPr/>
        </p:nvPicPr>
        <p:blipFill rotWithShape="1">
          <a:blip r:embed="rId4">
            <a:alphaModFix/>
          </a:blip>
          <a:srcRect b="0" l="0" r="0" t="0"/>
          <a:stretch/>
        </p:blipFill>
        <p:spPr>
          <a:xfrm>
            <a:off x="311700" y="3432195"/>
            <a:ext cx="3257623" cy="673100"/>
          </a:xfrm>
          <a:prstGeom prst="rect">
            <a:avLst/>
          </a:prstGeom>
          <a:noFill/>
          <a:ln>
            <a:noFill/>
          </a:ln>
        </p:spPr>
      </p:pic>
      <p:sp>
        <p:nvSpPr>
          <p:cNvPr id="263" name="Google Shape;263;g267918cbb27_0_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64" name="Google Shape;264;g267918cbb27_0_27"/>
          <p:cNvSpPr/>
          <p:nvPr/>
        </p:nvSpPr>
        <p:spPr>
          <a:xfrm>
            <a:off x="4225608" y="3896280"/>
            <a:ext cx="4572000" cy="1169700"/>
          </a:xfrm>
          <a:prstGeom prst="rect">
            <a:avLst/>
          </a:prstGeom>
          <a:solidFill>
            <a:srgbClr val="D8E6F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We start with a repository, create our branch, make changes on our branch, and when we're finished, we merge those changes into the "main" branch. We ensure everything works together and then upload it back to GitHub.</a:t>
            </a:r>
            <a:endParaRPr b="0" i="0" sz="1400" u="none" cap="none" strike="noStrike">
              <a:solidFill>
                <a:srgbClr val="000000"/>
              </a:solidFill>
              <a:latin typeface="Arial"/>
              <a:ea typeface="Arial"/>
              <a:cs typeface="Arial"/>
              <a:sym typeface="Arial"/>
            </a:endParaRPr>
          </a:p>
        </p:txBody>
      </p:sp>
      <p:sp>
        <p:nvSpPr>
          <p:cNvPr id="265" name="Google Shape;265;g267918cbb27_0_27"/>
          <p:cNvSpPr txBox="1"/>
          <p:nvPr/>
        </p:nvSpPr>
        <p:spPr>
          <a:xfrm>
            <a:off x="311700" y="1303425"/>
            <a:ext cx="3481500" cy="100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A31515"/>
                </a:solidFill>
                <a:latin typeface="Arial"/>
                <a:ea typeface="Arial"/>
                <a:cs typeface="Arial"/>
                <a:sym typeface="Arial"/>
              </a:rPr>
              <a:t>Delete an existing branch:</a:t>
            </a:r>
            <a:endParaRPr b="1" i="0" sz="1900" u="none" cap="none" strike="noStrike">
              <a:solidFill>
                <a:srgbClr val="A3151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git branch -d &lt;branch name&gt;</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6"/>
          <p:cNvSpPr txBox="1"/>
          <p:nvPr>
            <p:ph type="title"/>
          </p:nvPr>
        </p:nvSpPr>
        <p:spPr>
          <a:xfrm>
            <a:off x="311700" y="18341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Checkout</a:t>
            </a:r>
            <a:endParaRPr/>
          </a:p>
        </p:txBody>
      </p:sp>
      <p:pic>
        <p:nvPicPr>
          <p:cNvPr id="271" name="Google Shape;271;p16"/>
          <p:cNvPicPr preferRelativeResize="0"/>
          <p:nvPr/>
        </p:nvPicPr>
        <p:blipFill rotWithShape="1">
          <a:blip r:embed="rId3">
            <a:alphaModFix/>
          </a:blip>
          <a:srcRect b="0" l="0" r="0" t="0"/>
          <a:stretch/>
        </p:blipFill>
        <p:spPr>
          <a:xfrm>
            <a:off x="311700" y="1328815"/>
            <a:ext cx="5272474" cy="3380377"/>
          </a:xfrm>
          <a:prstGeom prst="rect">
            <a:avLst/>
          </a:prstGeom>
          <a:noFill/>
          <a:ln>
            <a:noFill/>
          </a:ln>
        </p:spPr>
      </p:pic>
      <p:sp>
        <p:nvSpPr>
          <p:cNvPr id="272" name="Google Shape;272;p16"/>
          <p:cNvSpPr/>
          <p:nvPr/>
        </p:nvSpPr>
        <p:spPr>
          <a:xfrm>
            <a:off x="5186275" y="183425"/>
            <a:ext cx="3645900" cy="1788600"/>
          </a:xfrm>
          <a:prstGeom prst="rect">
            <a:avLst/>
          </a:prstGeom>
          <a:solidFill>
            <a:srgbClr val="FEEDD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REMEMBER:</a:t>
            </a:r>
            <a:endParaRPr b="0" i="0" sz="1400" u="none" cap="none" strike="noStrike">
              <a:solidFill>
                <a:srgbClr val="000000"/>
              </a:solidFill>
              <a:latin typeface="Arial"/>
              <a:ea typeface="Arial"/>
              <a:cs typeface="Arial"/>
              <a:sym typeface="Arial"/>
            </a:endParaRPr>
          </a:p>
          <a:p>
            <a:pPr indent="-317500" lvl="0" marL="45720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Before switching to a new branch: Changes in the existing branch must be committed.</a:t>
            </a:r>
            <a:endParaRPr b="0" i="0" sz="1400" u="none" cap="none" strike="noStrike">
              <a:solidFill>
                <a:srgbClr val="000000"/>
              </a:solidFill>
              <a:latin typeface="Arial"/>
              <a:ea typeface="Arial"/>
              <a:cs typeface="Arial"/>
              <a:sym typeface="Arial"/>
            </a:endParaRPr>
          </a:p>
          <a:p>
            <a:pPr indent="-317500" lvl="0" marL="457200" marR="0" rtl="0" algn="just">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The new branch must exist on your local machine.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6"/>
          <p:cNvSpPr/>
          <p:nvPr/>
        </p:nvSpPr>
        <p:spPr>
          <a:xfrm>
            <a:off x="311700" y="648393"/>
            <a:ext cx="487457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 between branches in a repository. </a:t>
            </a:r>
            <a:endParaRPr b="0" i="0" sz="1400" u="none" cap="none" strike="noStrike">
              <a:solidFill>
                <a:srgbClr val="000000"/>
              </a:solidFill>
              <a:latin typeface="Arial"/>
              <a:ea typeface="Arial"/>
              <a:cs typeface="Arial"/>
              <a:sym typeface="Arial"/>
            </a:endParaRPr>
          </a:p>
        </p:txBody>
      </p:sp>
      <p:pic>
        <p:nvPicPr>
          <p:cNvPr id="274" name="Google Shape;274;p16"/>
          <p:cNvPicPr preferRelativeResize="0"/>
          <p:nvPr/>
        </p:nvPicPr>
        <p:blipFill rotWithShape="1">
          <a:blip r:embed="rId4">
            <a:alphaModFix/>
          </a:blip>
          <a:srcRect b="0" l="3703" r="0" t="0"/>
          <a:stretch/>
        </p:blipFill>
        <p:spPr>
          <a:xfrm>
            <a:off x="6147782" y="2085015"/>
            <a:ext cx="1761067" cy="2971800"/>
          </a:xfrm>
          <a:prstGeom prst="rect">
            <a:avLst/>
          </a:prstGeom>
          <a:noFill/>
          <a:ln>
            <a:noFill/>
          </a:ln>
        </p:spPr>
      </p:pic>
      <p:sp>
        <p:nvSpPr>
          <p:cNvPr id="275" name="Google Shape;27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7"/>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Push</a:t>
            </a:r>
            <a:endParaRPr/>
          </a:p>
        </p:txBody>
      </p:sp>
      <p:pic>
        <p:nvPicPr>
          <p:cNvPr descr="https://edav.info/images/git/no-branch.png" id="281" name="Google Shape;281;p17"/>
          <p:cNvPicPr preferRelativeResize="0"/>
          <p:nvPr/>
        </p:nvPicPr>
        <p:blipFill rotWithShape="1">
          <a:blip r:embed="rId3">
            <a:alphaModFix/>
          </a:blip>
          <a:srcRect b="0" l="0" r="0" t="0"/>
          <a:stretch/>
        </p:blipFill>
        <p:spPr>
          <a:xfrm>
            <a:off x="5164667" y="193675"/>
            <a:ext cx="3979333" cy="2110918"/>
          </a:xfrm>
          <a:prstGeom prst="rect">
            <a:avLst/>
          </a:prstGeom>
          <a:noFill/>
          <a:ln>
            <a:noFill/>
          </a:ln>
        </p:spPr>
      </p:pic>
      <p:sp>
        <p:nvSpPr>
          <p:cNvPr id="282" name="Google Shape;282;p17"/>
          <p:cNvSpPr txBox="1"/>
          <p:nvPr/>
        </p:nvSpPr>
        <p:spPr>
          <a:xfrm>
            <a:off x="311700" y="879305"/>
            <a:ext cx="4853100" cy="1323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Upload / push your local Git commits to a remote repository, such as one hosted on a platform like GitHub.</a:t>
            </a:r>
            <a:endParaRPr b="0" i="0" sz="16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Crucial for collaborating with others and keeping your remote repository up to date. </a:t>
            </a:r>
            <a:endParaRPr b="0" i="0" sz="1400" u="none" cap="none" strike="noStrike">
              <a:solidFill>
                <a:srgbClr val="000000"/>
              </a:solidFill>
              <a:latin typeface="Arial"/>
              <a:ea typeface="Arial"/>
              <a:cs typeface="Arial"/>
              <a:sym typeface="Arial"/>
            </a:endParaRPr>
          </a:p>
        </p:txBody>
      </p:sp>
      <p:sp>
        <p:nvSpPr>
          <p:cNvPr id="283" name="Google Shape;283;p17"/>
          <p:cNvSpPr/>
          <p:nvPr/>
        </p:nvSpPr>
        <p:spPr>
          <a:xfrm>
            <a:off x="1205211" y="2455202"/>
            <a:ext cx="3383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git push origin-main local-master </a:t>
            </a:r>
            <a:endParaRPr b="0" i="0" sz="1400" u="none" cap="none" strike="noStrike">
              <a:solidFill>
                <a:srgbClr val="C00000"/>
              </a:solidFill>
              <a:latin typeface="Arial"/>
              <a:ea typeface="Arial"/>
              <a:cs typeface="Arial"/>
              <a:sym typeface="Arial"/>
            </a:endParaRPr>
          </a:p>
        </p:txBody>
      </p:sp>
      <p:pic>
        <p:nvPicPr>
          <p:cNvPr id="284" name="Google Shape;284;p17"/>
          <p:cNvPicPr preferRelativeResize="0"/>
          <p:nvPr/>
        </p:nvPicPr>
        <p:blipFill rotWithShape="1">
          <a:blip r:embed="rId4">
            <a:alphaModFix/>
          </a:blip>
          <a:srcRect b="0" l="0" r="0" t="0"/>
          <a:stretch/>
        </p:blipFill>
        <p:spPr>
          <a:xfrm>
            <a:off x="6126417" y="2507544"/>
            <a:ext cx="2705883" cy="2402874"/>
          </a:xfrm>
          <a:prstGeom prst="rect">
            <a:avLst/>
          </a:prstGeom>
          <a:noFill/>
          <a:ln>
            <a:noFill/>
          </a:ln>
        </p:spPr>
      </p:pic>
      <p:sp>
        <p:nvSpPr>
          <p:cNvPr id="285" name="Google Shape;285;p17"/>
          <p:cNvSpPr/>
          <p:nvPr/>
        </p:nvSpPr>
        <p:spPr>
          <a:xfrm>
            <a:off x="1339361" y="4505282"/>
            <a:ext cx="2340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0" i="0" lang="en-US" sz="1400" u="none" cap="none" strike="noStrike">
                <a:solidFill>
                  <a:srgbClr val="C00000"/>
                </a:solidFill>
                <a:latin typeface="Arial"/>
                <a:ea typeface="Arial"/>
                <a:cs typeface="Arial"/>
                <a:sym typeface="Arial"/>
              </a:rPr>
              <a:t>git pull &lt;remote-repo-url&gt;</a:t>
            </a:r>
            <a:endParaRPr b="0" i="0" sz="1400" u="none" cap="none" strike="noStrike">
              <a:solidFill>
                <a:srgbClr val="C00000"/>
              </a:solidFill>
              <a:latin typeface="Arial"/>
              <a:ea typeface="Arial"/>
              <a:cs typeface="Arial"/>
              <a:sym typeface="Arial"/>
            </a:endParaRPr>
          </a:p>
        </p:txBody>
      </p:sp>
      <p:sp>
        <p:nvSpPr>
          <p:cNvPr id="286" name="Google Shape;286;p17"/>
          <p:cNvSpPr/>
          <p:nvPr/>
        </p:nvSpPr>
        <p:spPr>
          <a:xfrm>
            <a:off x="311700" y="2978427"/>
            <a:ext cx="12171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Git Pull</a:t>
            </a:r>
            <a:endParaRPr b="0" i="0" sz="1400" u="none" cap="none" strike="noStrike">
              <a:solidFill>
                <a:srgbClr val="000000"/>
              </a:solidFill>
              <a:latin typeface="Arial"/>
              <a:ea typeface="Arial"/>
              <a:cs typeface="Arial"/>
              <a:sym typeface="Arial"/>
            </a:endParaRPr>
          </a:p>
        </p:txBody>
      </p:sp>
      <p:sp>
        <p:nvSpPr>
          <p:cNvPr id="287" name="Google Shape;287;p17"/>
          <p:cNvSpPr/>
          <p:nvPr/>
        </p:nvSpPr>
        <p:spPr>
          <a:xfrm>
            <a:off x="287933" y="3465029"/>
            <a:ext cx="4900500" cy="73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Refers to refers to fetching changes from a remote repository. Download and update our local repository with the changes made to the remote repository. First fetch the changes and then merge them into the working branch.</a:t>
            </a:r>
            <a:endParaRPr b="0" i="0" sz="1400" u="none" cap="none" strike="noStrike">
              <a:solidFill>
                <a:srgbClr val="000000"/>
              </a:solidFill>
              <a:latin typeface="Arial"/>
              <a:ea typeface="Arial"/>
              <a:cs typeface="Arial"/>
              <a:sym typeface="Arial"/>
            </a:endParaRPr>
          </a:p>
        </p:txBody>
      </p:sp>
      <p:sp>
        <p:nvSpPr>
          <p:cNvPr id="288" name="Google Shape;28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Git Overall</a:t>
            </a:r>
            <a:endParaRPr/>
          </a:p>
        </p:txBody>
      </p:sp>
      <p:pic>
        <p:nvPicPr>
          <p:cNvPr id="294" name="Google Shape;294;p18"/>
          <p:cNvPicPr preferRelativeResize="0"/>
          <p:nvPr/>
        </p:nvPicPr>
        <p:blipFill rotWithShape="1">
          <a:blip r:embed="rId3">
            <a:alphaModFix/>
          </a:blip>
          <a:srcRect b="0" l="0" r="0" t="0"/>
          <a:stretch/>
        </p:blipFill>
        <p:spPr>
          <a:xfrm>
            <a:off x="4267200" y="1201277"/>
            <a:ext cx="4741333" cy="2182740"/>
          </a:xfrm>
          <a:prstGeom prst="rect">
            <a:avLst/>
          </a:prstGeom>
          <a:noFill/>
          <a:ln>
            <a:noFill/>
          </a:ln>
        </p:spPr>
      </p:pic>
      <p:sp>
        <p:nvSpPr>
          <p:cNvPr id="295" name="Google Shape;295;p18"/>
          <p:cNvSpPr txBox="1"/>
          <p:nvPr/>
        </p:nvSpPr>
        <p:spPr>
          <a:xfrm>
            <a:off x="311700" y="1324836"/>
            <a:ext cx="4209600" cy="24627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Arial"/>
                <a:ea typeface="Arial"/>
                <a:cs typeface="Arial"/>
                <a:sym typeface="Arial"/>
              </a:rPr>
              <a:t>Use an existing remote master git repository</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Clone</a:t>
            </a:r>
            <a:r>
              <a:rPr b="0" i="0" lang="en-US" sz="1400" u="none" cap="none" strike="noStrike">
                <a:solidFill>
                  <a:srgbClr val="000000"/>
                </a:solidFill>
                <a:latin typeface="Arial"/>
                <a:ea typeface="Arial"/>
                <a:cs typeface="Arial"/>
                <a:sym typeface="Arial"/>
              </a:rPr>
              <a:t> a private local copy of the remote master repo</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Arial"/>
                <a:ea typeface="Arial"/>
                <a:cs typeface="Arial"/>
                <a:sym typeface="Arial"/>
              </a:rPr>
              <a:t>A</a:t>
            </a:r>
            <a:r>
              <a:rPr b="1" i="0" lang="en-US" sz="1400" u="none" cap="none" strike="noStrike">
                <a:solidFill>
                  <a:srgbClr val="000000"/>
                </a:solidFill>
                <a:latin typeface="Arial"/>
                <a:ea typeface="Arial"/>
                <a:cs typeface="Arial"/>
                <a:sym typeface="Arial"/>
              </a:rPr>
              <a:t>dd</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000000"/>
                </a:solidFill>
                <a:latin typeface="Arial"/>
                <a:ea typeface="Arial"/>
                <a:cs typeface="Arial"/>
                <a:sym typeface="Arial"/>
              </a:rPr>
              <a:t>commit</a:t>
            </a:r>
            <a:r>
              <a:rPr b="0" i="0" lang="en-US" sz="1400" u="none" cap="none" strike="noStrike">
                <a:solidFill>
                  <a:srgbClr val="000000"/>
                </a:solidFill>
                <a:latin typeface="Arial"/>
                <a:ea typeface="Arial"/>
                <a:cs typeface="Arial"/>
                <a:sym typeface="Arial"/>
              </a:rPr>
              <a:t> changes to your local private cloned copies.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Arial"/>
                <a:ea typeface="Arial"/>
                <a:cs typeface="Arial"/>
                <a:sym typeface="Arial"/>
              </a:rPr>
              <a:t>Local changes can be shared others by </a:t>
            </a:r>
            <a:r>
              <a:rPr b="1" i="0" lang="en-US" sz="1400" u="none" cap="none" strike="noStrike">
                <a:solidFill>
                  <a:srgbClr val="000000"/>
                </a:solidFill>
                <a:latin typeface="Arial"/>
                <a:ea typeface="Arial"/>
                <a:cs typeface="Arial"/>
                <a:sym typeface="Arial"/>
              </a:rPr>
              <a:t>push</a:t>
            </a:r>
            <a:r>
              <a:rPr b="0" i="0" lang="en-US" sz="1400" u="none" cap="none" strike="noStrike">
                <a:solidFill>
                  <a:srgbClr val="000000"/>
                </a:solidFill>
                <a:latin typeface="Arial"/>
                <a:ea typeface="Arial"/>
                <a:cs typeface="Arial"/>
                <a:sym typeface="Arial"/>
              </a:rPr>
              <a:t>ing them to the master repo.</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Arial"/>
                <a:ea typeface="Arial"/>
                <a:cs typeface="Arial"/>
                <a:sym typeface="Arial"/>
              </a:rPr>
              <a:t>Your partners will then </a:t>
            </a:r>
            <a:r>
              <a:rPr b="1" i="0" lang="en-US" sz="1400" u="none" cap="none" strike="noStrike">
                <a:solidFill>
                  <a:srgbClr val="000000"/>
                </a:solidFill>
                <a:latin typeface="Arial"/>
                <a:ea typeface="Arial"/>
                <a:cs typeface="Arial"/>
                <a:sym typeface="Arial"/>
              </a:rPr>
              <a:t>pull</a:t>
            </a:r>
            <a:r>
              <a:rPr b="0" i="0" lang="en-US" sz="1400" u="none" cap="none" strike="noStrike">
                <a:solidFill>
                  <a:srgbClr val="000000"/>
                </a:solidFill>
                <a:latin typeface="Arial"/>
                <a:ea typeface="Arial"/>
                <a:cs typeface="Arial"/>
                <a:sym typeface="Arial"/>
              </a:rPr>
              <a:t> your pushed changes from the remote master into their local repo. </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267918cbb27_0_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A Basic Git Workflow</a:t>
            </a:r>
            <a:endParaRPr/>
          </a:p>
        </p:txBody>
      </p:sp>
      <p:sp>
        <p:nvSpPr>
          <p:cNvPr id="302" name="Google Shape;302;g267918cbb27_0_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303" name="Google Shape;303;g267918cbb27_0_49"/>
          <p:cNvPicPr preferRelativeResize="0"/>
          <p:nvPr/>
        </p:nvPicPr>
        <p:blipFill rotWithShape="1">
          <a:blip r:embed="rId3">
            <a:alphaModFix/>
          </a:blip>
          <a:srcRect b="9267" l="0" r="0" t="18665"/>
          <a:stretch/>
        </p:blipFill>
        <p:spPr>
          <a:xfrm>
            <a:off x="427300" y="1102850"/>
            <a:ext cx="7928901" cy="37243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